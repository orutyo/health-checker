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anose="020B0604020202020204" charset="-122"/>
      <p:regular r:id="rId15"/>
    </p:embeddedFont>
    <p:embeddedFont>
      <p:font typeface="Liter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38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c3e2e336eeadf1963d295b9174c65eae8fd9d61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48752"/>
            <a:ext cx="2646045" cy="502920"/>
          </a:xfrm>
          <a:custGeom>
            <a:avLst/>
            <a:gdLst/>
            <a:ahLst/>
            <a:cxnLst/>
            <a:rect l="l" t="t" r="r" b="b"/>
            <a:pathLst>
              <a:path w="2646045" h="502920">
                <a:moveTo>
                  <a:pt x="251460" y="0"/>
                </a:moveTo>
                <a:lnTo>
                  <a:pt x="2394585" y="0"/>
                </a:lnTo>
                <a:cubicBezTo>
                  <a:pt x="2533463" y="0"/>
                  <a:pt x="2646045" y="112582"/>
                  <a:pt x="2646045" y="251460"/>
                </a:cubicBezTo>
                <a:lnTo>
                  <a:pt x="2646045" y="251460"/>
                </a:lnTo>
                <a:cubicBezTo>
                  <a:pt x="2646045" y="390338"/>
                  <a:pt x="2533463" y="502920"/>
                  <a:pt x="2394585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1033" y="16049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907852" y="1566862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34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Checker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124868"/>
            <a:ext cx="356584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BeatSense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15309"/>
            <a:ext cx="5967691" cy="1610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27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Веб-приложение для анализа электрокардиограмм и классификации сердечных аномалий с использованием ИИ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57577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5537676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Команда: </a:t>
            </a: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человек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22377" y="55757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3150989" y="5537676"/>
            <a:ext cx="23900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Github:https://github.com/oRUTYo/health-checker</a:t>
            </a:r>
            <a:endParaRPr lang="en-US" sz="16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64C5657-E1DD-C223-3271-AA0B236E9B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23" r="22551"/>
          <a:stretch>
            <a:fillRect/>
          </a:stretch>
        </p:blipFill>
        <p:spPr>
          <a:xfrm>
            <a:off x="6177420" y="956283"/>
            <a:ext cx="5967691" cy="49454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19100"/>
            <a:ext cx="1800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анализ ЭКГ нуждается в инновациях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7105650" cy="1295400"/>
          </a:xfrm>
          <a:custGeom>
            <a:avLst/>
            <a:gdLst/>
            <a:ahLst/>
            <a:cxnLst/>
            <a:rect l="l" t="t" r="r" b="b"/>
            <a:pathLst>
              <a:path w="7105650" h="1295400">
                <a:moveTo>
                  <a:pt x="0" y="0"/>
                </a:moveTo>
                <a:lnTo>
                  <a:pt x="6991344" y="0"/>
                </a:lnTo>
                <a:cubicBezTo>
                  <a:pt x="7054473" y="0"/>
                  <a:pt x="7105650" y="51177"/>
                  <a:pt x="7105650" y="114306"/>
                </a:cubicBezTo>
                <a:lnTo>
                  <a:pt x="7105650" y="1181094"/>
                </a:lnTo>
                <a:cubicBezTo>
                  <a:pt x="7105650" y="1244223"/>
                  <a:pt x="7054473" y="1295400"/>
                  <a:pt x="6991344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4388" y="1828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Требует врача-кардиолога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193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Каждый анализ ЭКГ должен проводиться квалифицированным специалистом, что создаёт bottleneck в системе здравоохранения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933700"/>
            <a:ext cx="7105650" cy="1295400"/>
          </a:xfrm>
          <a:custGeom>
            <a:avLst/>
            <a:gdLst/>
            <a:ahLst/>
            <a:cxnLst/>
            <a:rect l="l" t="t" r="r" b="b"/>
            <a:pathLst>
              <a:path w="7105650" h="1295400">
                <a:moveTo>
                  <a:pt x="0" y="0"/>
                </a:moveTo>
                <a:lnTo>
                  <a:pt x="6991344" y="0"/>
                </a:lnTo>
                <a:cubicBezTo>
                  <a:pt x="7054473" y="0"/>
                  <a:pt x="7105650" y="51177"/>
                  <a:pt x="7105650" y="114306"/>
                </a:cubicBezTo>
                <a:lnTo>
                  <a:pt x="7105650" y="1181094"/>
                </a:lnTo>
                <a:cubicBezTo>
                  <a:pt x="7105650" y="1244223"/>
                  <a:pt x="7054473" y="1295400"/>
                  <a:pt x="6991344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933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162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31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162300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Занимает значительное время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5052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Традиционный анализ требует времени на интерпретацию, что замедляет процесс диагностики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419600"/>
            <a:ext cx="7105650" cy="1295400"/>
          </a:xfrm>
          <a:custGeom>
            <a:avLst/>
            <a:gdLst/>
            <a:ahLst/>
            <a:cxnLst/>
            <a:rect l="l" t="t" r="r" b="b"/>
            <a:pathLst>
              <a:path w="7105650" h="1295400">
                <a:moveTo>
                  <a:pt x="0" y="0"/>
                </a:moveTo>
                <a:lnTo>
                  <a:pt x="6991344" y="0"/>
                </a:lnTo>
                <a:cubicBezTo>
                  <a:pt x="7054473" y="0"/>
                  <a:pt x="7105650" y="51177"/>
                  <a:pt x="7105650" y="114306"/>
                </a:cubicBezTo>
                <a:lnTo>
                  <a:pt x="7105650" y="1181094"/>
                </a:lnTo>
                <a:cubicBezTo>
                  <a:pt x="7105650" y="1244223"/>
                  <a:pt x="7054473" y="1295400"/>
                  <a:pt x="6991344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419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4648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" y="480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4648200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масштабируется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9911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Невозможно провести массовый скрининг населения из-за ограниченности ресурсов специалистов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14310" y="1451610"/>
            <a:ext cx="3989070" cy="5017770"/>
          </a:xfrm>
          <a:custGeom>
            <a:avLst/>
            <a:gdLst/>
            <a:ahLst/>
            <a:cxnLst/>
            <a:rect l="l" t="t" r="r" b="b"/>
            <a:pathLst>
              <a:path w="3989070" h="5017770">
                <a:moveTo>
                  <a:pt x="152382" y="0"/>
                </a:moveTo>
                <a:lnTo>
                  <a:pt x="3836688" y="0"/>
                </a:lnTo>
                <a:cubicBezTo>
                  <a:pt x="3920846" y="0"/>
                  <a:pt x="3989070" y="68224"/>
                  <a:pt x="3989070" y="152382"/>
                </a:cubicBezTo>
                <a:lnTo>
                  <a:pt x="3989070" y="4865388"/>
                </a:lnTo>
                <a:cubicBezTo>
                  <a:pt x="3989070" y="4949546"/>
                  <a:pt x="3920846" y="5017770"/>
                  <a:pt x="3836688" y="5017770"/>
                </a:cubicBezTo>
                <a:lnTo>
                  <a:pt x="152382" y="5017770"/>
                </a:lnTo>
                <a:cubicBezTo>
                  <a:pt x="68224" y="5017770"/>
                  <a:pt x="0" y="4949546"/>
                  <a:pt x="0" y="486538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38BDF8">
                  <a:alpha val="10000"/>
                </a:srgbClr>
              </a:gs>
            </a:gsLst>
            <a:lin ang="2700000" scaled="1"/>
          </a:gradFill>
          <a:ln w="10160">
            <a:solidFill>
              <a:srgbClr val="F43F5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25000" y="235743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cubicBezTo>
                  <a:pt x="302158" y="0"/>
                  <a:pt x="317227" y="9041"/>
                  <a:pt x="325041" y="23440"/>
                </a:cubicBezTo>
                <a:lnTo>
                  <a:pt x="566142" y="469925"/>
                </a:lnTo>
                <a:cubicBezTo>
                  <a:pt x="573621" y="483766"/>
                  <a:pt x="573286" y="500509"/>
                  <a:pt x="565249" y="514015"/>
                </a:cubicBezTo>
                <a:cubicBezTo>
                  <a:pt x="557212" y="527521"/>
                  <a:pt x="542590" y="535781"/>
                  <a:pt x="526852" y="535781"/>
                </a:cubicBezTo>
                <a:lnTo>
                  <a:pt x="44648" y="535781"/>
                </a:lnTo>
                <a:cubicBezTo>
                  <a:pt x="28910" y="535781"/>
                  <a:pt x="14399" y="527521"/>
                  <a:pt x="6251" y="514015"/>
                </a:cubicBezTo>
                <a:cubicBezTo>
                  <a:pt x="-1898" y="500509"/>
                  <a:pt x="-2121" y="483766"/>
                  <a:pt x="5358" y="469925"/>
                </a:cubicBezTo>
                <a:lnTo>
                  <a:pt x="246459" y="23440"/>
                </a:lnTo>
                <a:cubicBezTo>
                  <a:pt x="254273" y="9041"/>
                  <a:pt x="269342" y="0"/>
                  <a:pt x="285750" y="0"/>
                </a:cubicBezTo>
                <a:close/>
                <a:moveTo>
                  <a:pt x="285750" y="187523"/>
                </a:moveTo>
                <a:cubicBezTo>
                  <a:pt x="270904" y="187523"/>
                  <a:pt x="258961" y="199467"/>
                  <a:pt x="258961" y="214313"/>
                </a:cubicBezTo>
                <a:lnTo>
                  <a:pt x="258961" y="339328"/>
                </a:lnTo>
                <a:cubicBezTo>
                  <a:pt x="258961" y="354174"/>
                  <a:pt x="270904" y="366117"/>
                  <a:pt x="285750" y="366117"/>
                </a:cubicBezTo>
                <a:cubicBezTo>
                  <a:pt x="300596" y="366117"/>
                  <a:pt x="312539" y="354174"/>
                  <a:pt x="312539" y="339328"/>
                </a:cubicBezTo>
                <a:lnTo>
                  <a:pt x="312539" y="214313"/>
                </a:lnTo>
                <a:cubicBezTo>
                  <a:pt x="312539" y="199467"/>
                  <a:pt x="300596" y="187523"/>
                  <a:pt x="285750" y="187523"/>
                </a:cubicBezTo>
                <a:close/>
                <a:moveTo>
                  <a:pt x="315553" y="428625"/>
                </a:moveTo>
                <a:cubicBezTo>
                  <a:pt x="316231" y="417563"/>
                  <a:pt x="310714" y="407038"/>
                  <a:pt x="301231" y="401301"/>
                </a:cubicBezTo>
                <a:cubicBezTo>
                  <a:pt x="291747" y="395565"/>
                  <a:pt x="279864" y="395565"/>
                  <a:pt x="270381" y="401301"/>
                </a:cubicBezTo>
                <a:cubicBezTo>
                  <a:pt x="260898" y="407038"/>
                  <a:pt x="255381" y="417563"/>
                  <a:pt x="256059" y="428625"/>
                </a:cubicBezTo>
                <a:cubicBezTo>
                  <a:pt x="255381" y="439687"/>
                  <a:pt x="260898" y="450212"/>
                  <a:pt x="270381" y="455949"/>
                </a:cubicBezTo>
                <a:cubicBezTo>
                  <a:pt x="279864" y="461685"/>
                  <a:pt x="291747" y="461685"/>
                  <a:pt x="301231" y="455949"/>
                </a:cubicBezTo>
                <a:cubicBezTo>
                  <a:pt x="310714" y="450212"/>
                  <a:pt x="316231" y="439687"/>
                  <a:pt x="315553" y="428625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8051482" y="3081338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Ключевой вызов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75295" y="3805237"/>
            <a:ext cx="34671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Отсутствует </a:t>
            </a:r>
            <a:r>
              <a:rPr lang="en-US" sz="15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быстрый инструмент</a:t>
            </a: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для первичной оценки сердечных ритмов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2920" y="4652963"/>
            <a:ext cx="3371850" cy="914400"/>
          </a:xfrm>
          <a:custGeom>
            <a:avLst/>
            <a:gdLst/>
            <a:ahLst/>
            <a:cxnLst/>
            <a:rect l="l" t="t" r="r" b="b"/>
            <a:pathLst>
              <a:path w="3371850" h="914400">
                <a:moveTo>
                  <a:pt x="114300" y="0"/>
                </a:moveTo>
                <a:lnTo>
                  <a:pt x="3257550" y="0"/>
                </a:lnTo>
                <a:cubicBezTo>
                  <a:pt x="3320634" y="0"/>
                  <a:pt x="3371850" y="51216"/>
                  <a:pt x="3371850" y="114300"/>
                </a:cubicBezTo>
                <a:lnTo>
                  <a:pt x="3371850" y="800100"/>
                </a:lnTo>
                <a:cubicBezTo>
                  <a:pt x="3371850" y="863184"/>
                  <a:pt x="3320634" y="914400"/>
                  <a:pt x="325755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13420" y="50149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8622149" y="4843463"/>
            <a:ext cx="2771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Нужно решение для массового скрининга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19100"/>
            <a:ext cx="157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AI-сервис для первичной оценки ЭКГ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1610"/>
            <a:ext cx="7303770" cy="1788795"/>
          </a:xfrm>
          <a:custGeom>
            <a:avLst/>
            <a:gdLst/>
            <a:ahLst/>
            <a:cxnLst/>
            <a:rect l="l" t="t" r="r" b="b"/>
            <a:pathLst>
              <a:path w="7303770" h="1788795">
                <a:moveTo>
                  <a:pt x="114304" y="0"/>
                </a:moveTo>
                <a:lnTo>
                  <a:pt x="7189466" y="0"/>
                </a:lnTo>
                <a:cubicBezTo>
                  <a:pt x="7252594" y="0"/>
                  <a:pt x="7303770" y="51176"/>
                  <a:pt x="7303770" y="114304"/>
                </a:cubicBezTo>
                <a:lnTo>
                  <a:pt x="7303770" y="1674491"/>
                </a:lnTo>
                <a:cubicBezTo>
                  <a:pt x="7303770" y="1737619"/>
                  <a:pt x="7252594" y="1788795"/>
                  <a:pt x="7189466" y="1788795"/>
                </a:cubicBezTo>
                <a:lnTo>
                  <a:pt x="114304" y="1788795"/>
                </a:lnTo>
                <a:cubicBezTo>
                  <a:pt x="51176" y="1788795"/>
                  <a:pt x="0" y="1737619"/>
                  <a:pt x="0" y="167449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0" scaled="1"/>
          </a:gra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840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781526" y="18459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379220" y="1836420"/>
            <a:ext cx="117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BeatSense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446020"/>
            <a:ext cx="692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AI-сервис, который использует машинное обучение для быстрого анализа электрокардиограмм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429952"/>
            <a:ext cx="2333625" cy="3048000"/>
          </a:xfrm>
          <a:custGeom>
            <a:avLst/>
            <a:gdLst/>
            <a:ahLst/>
            <a:cxnLst/>
            <a:rect l="l" t="t" r="r" b="b"/>
            <a:pathLst>
              <a:path w="2333625" h="3048000">
                <a:moveTo>
                  <a:pt x="114301" y="0"/>
                </a:moveTo>
                <a:lnTo>
                  <a:pt x="2219324" y="0"/>
                </a:lnTo>
                <a:cubicBezTo>
                  <a:pt x="2282451" y="0"/>
                  <a:pt x="2333625" y="51174"/>
                  <a:pt x="2333625" y="114301"/>
                </a:cubicBezTo>
                <a:lnTo>
                  <a:pt x="2333625" y="2933699"/>
                </a:lnTo>
                <a:cubicBezTo>
                  <a:pt x="2333625" y="2996826"/>
                  <a:pt x="2282451" y="3048000"/>
                  <a:pt x="2219324" y="3048000"/>
                </a:cubicBezTo>
                <a:lnTo>
                  <a:pt x="114301" y="3048000"/>
                </a:lnTo>
                <a:cubicBezTo>
                  <a:pt x="51174" y="3048000"/>
                  <a:pt x="0" y="2996826"/>
                  <a:pt x="0" y="29336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82660" y="36204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35060" y="37728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415" y="4268152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Классифицирует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400" y="4611052"/>
            <a:ext cx="202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Определяет тип сердечного ритма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70121" y="3429952"/>
            <a:ext cx="2333625" cy="3048000"/>
          </a:xfrm>
          <a:custGeom>
            <a:avLst/>
            <a:gdLst/>
            <a:ahLst/>
            <a:cxnLst/>
            <a:rect l="l" t="t" r="r" b="b"/>
            <a:pathLst>
              <a:path w="2333625" h="3048000">
                <a:moveTo>
                  <a:pt x="114301" y="0"/>
                </a:moveTo>
                <a:lnTo>
                  <a:pt x="2219324" y="0"/>
                </a:lnTo>
                <a:cubicBezTo>
                  <a:pt x="2282451" y="0"/>
                  <a:pt x="2333625" y="51174"/>
                  <a:pt x="2333625" y="114301"/>
                </a:cubicBezTo>
                <a:lnTo>
                  <a:pt x="2333625" y="2933699"/>
                </a:lnTo>
                <a:cubicBezTo>
                  <a:pt x="2333625" y="2996826"/>
                  <a:pt x="2282451" y="3048000"/>
                  <a:pt x="2219324" y="3048000"/>
                </a:cubicBezTo>
                <a:lnTo>
                  <a:pt x="114301" y="3048000"/>
                </a:lnTo>
                <a:cubicBezTo>
                  <a:pt x="51174" y="3048000"/>
                  <a:pt x="0" y="2996826"/>
                  <a:pt x="0" y="29336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771781" y="36204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24181" y="37728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50006"/>
                </a:moveTo>
                <a:cubicBezTo>
                  <a:pt x="86931" y="50006"/>
                  <a:pt x="82153" y="54784"/>
                  <a:pt x="82153" y="60722"/>
                </a:cubicBezTo>
                <a:lnTo>
                  <a:pt x="82153" y="82153"/>
                </a:lnTo>
                <a:lnTo>
                  <a:pt x="60722" y="82153"/>
                </a:lnTo>
                <a:cubicBezTo>
                  <a:pt x="54784" y="82153"/>
                  <a:pt x="50006" y="86931"/>
                  <a:pt x="50006" y="92869"/>
                </a:cubicBezTo>
                <a:cubicBezTo>
                  <a:pt x="50006" y="98807"/>
                  <a:pt x="54784" y="103584"/>
                  <a:pt x="60722" y="103584"/>
                </a:cubicBezTo>
                <a:lnTo>
                  <a:pt x="82153" y="103584"/>
                </a:lnTo>
                <a:lnTo>
                  <a:pt x="82153" y="125016"/>
                </a:lnTo>
                <a:cubicBezTo>
                  <a:pt x="82153" y="130954"/>
                  <a:pt x="86931" y="135731"/>
                  <a:pt x="92869" y="135731"/>
                </a:cubicBezTo>
                <a:cubicBezTo>
                  <a:pt x="98807" y="135731"/>
                  <a:pt x="103584" y="130954"/>
                  <a:pt x="103584" y="125016"/>
                </a:cubicBezTo>
                <a:lnTo>
                  <a:pt x="103584" y="103584"/>
                </a:lnTo>
                <a:lnTo>
                  <a:pt x="125016" y="103584"/>
                </a:lnTo>
                <a:cubicBezTo>
                  <a:pt x="130954" y="103584"/>
                  <a:pt x="135731" y="98807"/>
                  <a:pt x="135731" y="92869"/>
                </a:cubicBezTo>
                <a:cubicBezTo>
                  <a:pt x="135731" y="86931"/>
                  <a:pt x="130954" y="82153"/>
                  <a:pt x="125016" y="82153"/>
                </a:cubicBezTo>
                <a:lnTo>
                  <a:pt x="103584" y="82153"/>
                </a:lnTo>
                <a:lnTo>
                  <a:pt x="103584" y="60722"/>
                </a:lnTo>
                <a:cubicBezTo>
                  <a:pt x="103584" y="54784"/>
                  <a:pt x="98807" y="50006"/>
                  <a:pt x="92869" y="5000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3621643" y="4268152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Выявляет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22521" y="4611052"/>
            <a:ext cx="202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Обнаруживает аномалии и аритмии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59361" y="3429952"/>
            <a:ext cx="2333625" cy="3048000"/>
          </a:xfrm>
          <a:custGeom>
            <a:avLst/>
            <a:gdLst/>
            <a:ahLst/>
            <a:cxnLst/>
            <a:rect l="l" t="t" r="r" b="b"/>
            <a:pathLst>
              <a:path w="2333625" h="3048000">
                <a:moveTo>
                  <a:pt x="114301" y="0"/>
                </a:moveTo>
                <a:lnTo>
                  <a:pt x="2219324" y="0"/>
                </a:lnTo>
                <a:cubicBezTo>
                  <a:pt x="2282451" y="0"/>
                  <a:pt x="2333625" y="51174"/>
                  <a:pt x="2333625" y="114301"/>
                </a:cubicBezTo>
                <a:lnTo>
                  <a:pt x="2333625" y="2933699"/>
                </a:lnTo>
                <a:cubicBezTo>
                  <a:pt x="2333625" y="2996826"/>
                  <a:pt x="2282451" y="3048000"/>
                  <a:pt x="2219324" y="3048000"/>
                </a:cubicBezTo>
                <a:lnTo>
                  <a:pt x="114301" y="3048000"/>
                </a:lnTo>
                <a:cubicBezTo>
                  <a:pt x="51174" y="3048000"/>
                  <a:pt x="0" y="2996826"/>
                  <a:pt x="0" y="29336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61021" y="36204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27708" y="377285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536" y="4268152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Быстро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33812" y="4611052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за секунды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08620" y="1455420"/>
            <a:ext cx="3796665" cy="5015865"/>
          </a:xfrm>
          <a:custGeom>
            <a:avLst/>
            <a:gdLst/>
            <a:ahLst/>
            <a:cxnLst/>
            <a:rect l="l" t="t" r="r" b="b"/>
            <a:pathLst>
              <a:path w="3796665" h="5015865">
                <a:moveTo>
                  <a:pt x="152398" y="0"/>
                </a:moveTo>
                <a:lnTo>
                  <a:pt x="3644267" y="0"/>
                </a:lnTo>
                <a:cubicBezTo>
                  <a:pt x="3728434" y="0"/>
                  <a:pt x="3796665" y="68231"/>
                  <a:pt x="3796665" y="152398"/>
                </a:cubicBezTo>
                <a:lnTo>
                  <a:pt x="3796665" y="4863467"/>
                </a:lnTo>
                <a:cubicBezTo>
                  <a:pt x="3796665" y="4947634"/>
                  <a:pt x="3728434" y="5015865"/>
                  <a:pt x="3644267" y="5015865"/>
                </a:cubicBezTo>
                <a:lnTo>
                  <a:pt x="152398" y="5015865"/>
                </a:lnTo>
                <a:cubicBezTo>
                  <a:pt x="68231" y="5015865"/>
                  <a:pt x="0" y="4947634"/>
                  <a:pt x="0" y="48634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0F172A"/>
              </a:gs>
            </a:gsLst>
            <a:lin ang="2700000" scaled="1"/>
          </a:gradFill>
          <a:ln w="20320">
            <a:solidFill>
              <a:srgbClr val="F43F5E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14741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8485347" y="230933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83040" y="2280762"/>
            <a:ext cx="1076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Важно!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1040" y="2985612"/>
            <a:ext cx="3267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Это </a:t>
            </a:r>
            <a:r>
              <a:rPr lang="en-US" sz="1500" b="1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диагноз</a:t>
            </a: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а инструмент поддержки принятия решений врачом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24850" y="4146709"/>
            <a:ext cx="3160395" cy="1626870"/>
          </a:xfrm>
          <a:custGeom>
            <a:avLst/>
            <a:gdLst/>
            <a:ahLst/>
            <a:cxnLst/>
            <a:rect l="l" t="t" r="r" b="b"/>
            <a:pathLst>
              <a:path w="3160395" h="1626870">
                <a:moveTo>
                  <a:pt x="114304" y="0"/>
                </a:moveTo>
                <a:lnTo>
                  <a:pt x="3046091" y="0"/>
                </a:lnTo>
                <a:cubicBezTo>
                  <a:pt x="3109219" y="0"/>
                  <a:pt x="3160395" y="51176"/>
                  <a:pt x="3160395" y="114304"/>
                </a:cubicBezTo>
                <a:lnTo>
                  <a:pt x="3160395" y="1512566"/>
                </a:lnTo>
                <a:cubicBezTo>
                  <a:pt x="3160395" y="1575694"/>
                  <a:pt x="3109219" y="1626870"/>
                  <a:pt x="3046091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43F5E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0110" y="43791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781693" y="4341019"/>
            <a:ext cx="2590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BeatSense помогает врачам быстрее обрабатывать большие объёмы данных, но финальное решение всегда остаётся за специалистом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19100"/>
            <a:ext cx="3228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Кто будет использовать BeatSense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5587365" cy="3558540"/>
          </a:xfrm>
          <a:custGeom>
            <a:avLst/>
            <a:gdLst/>
            <a:ahLst/>
            <a:cxnLst/>
            <a:rect l="l" t="t" r="r" b="b"/>
            <a:pathLst>
              <a:path w="5587365" h="3558540">
                <a:moveTo>
                  <a:pt x="152412" y="0"/>
                </a:moveTo>
                <a:lnTo>
                  <a:pt x="5434953" y="0"/>
                </a:lnTo>
                <a:cubicBezTo>
                  <a:pt x="5519128" y="0"/>
                  <a:pt x="5587365" y="68237"/>
                  <a:pt x="5587365" y="152412"/>
                </a:cubicBezTo>
                <a:lnTo>
                  <a:pt x="5587365" y="3406128"/>
                </a:lnTo>
                <a:cubicBezTo>
                  <a:pt x="5587365" y="3490303"/>
                  <a:pt x="5519128" y="3558540"/>
                  <a:pt x="5434953" y="3558540"/>
                </a:cubicBezTo>
                <a:lnTo>
                  <a:pt x="152412" y="3558540"/>
                </a:lnTo>
                <a:cubicBezTo>
                  <a:pt x="68237" y="3558540"/>
                  <a:pt x="0" y="3490303"/>
                  <a:pt x="0" y="340612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2032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840" y="16535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801052" y="184404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386840" y="1805941"/>
            <a:ext cx="2657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Основные пользователи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40" y="2453641"/>
            <a:ext cx="5114925" cy="1066800"/>
          </a:xfrm>
          <a:custGeom>
            <a:avLst/>
            <a:gdLst/>
            <a:ahLst/>
            <a:cxnLst/>
            <a:rect l="l" t="t" r="r" b="b"/>
            <a:pathLst>
              <a:path w="5114925" h="1066800">
                <a:moveTo>
                  <a:pt x="114297" y="0"/>
                </a:moveTo>
                <a:lnTo>
                  <a:pt x="5000628" y="0"/>
                </a:lnTo>
                <a:cubicBezTo>
                  <a:pt x="5063753" y="0"/>
                  <a:pt x="5114925" y="51172"/>
                  <a:pt x="5114925" y="114297"/>
                </a:cubicBezTo>
                <a:lnTo>
                  <a:pt x="5114925" y="952503"/>
                </a:lnTo>
                <a:cubicBezTo>
                  <a:pt x="5114925" y="1015628"/>
                  <a:pt x="5063753" y="1066800"/>
                  <a:pt x="5000628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060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2496" y="273939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977"/>
                </a:move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lose/>
                <a:moveTo>
                  <a:pt x="105668" y="119360"/>
                </a:moveTo>
                <a:cubicBezTo>
                  <a:pt x="103659" y="119174"/>
                  <a:pt x="101575" y="119063"/>
                  <a:pt x="99492" y="119063"/>
                </a:cubicBezTo>
                <a:lnTo>
                  <a:pt x="67159" y="119063"/>
                </a:lnTo>
                <a:cubicBezTo>
                  <a:pt x="65075" y="119063"/>
                  <a:pt x="63029" y="119174"/>
                  <a:pt x="60982" y="119360"/>
                </a:cubicBezTo>
                <a:lnTo>
                  <a:pt x="60982" y="144475"/>
                </a:lnTo>
                <a:cubicBezTo>
                  <a:pt x="67121" y="147303"/>
                  <a:pt x="71400" y="153516"/>
                  <a:pt x="71400" y="160697"/>
                </a:cubicBezTo>
                <a:cubicBezTo>
                  <a:pt x="71400" y="170557"/>
                  <a:pt x="63401" y="178557"/>
                  <a:pt x="53541" y="178557"/>
                </a:cubicBezTo>
                <a:cubicBezTo>
                  <a:pt x="43681" y="178557"/>
                  <a:pt x="35682" y="170557"/>
                  <a:pt x="35682" y="160697"/>
                </a:cubicBezTo>
                <a:cubicBezTo>
                  <a:pt x="35682" y="153479"/>
                  <a:pt x="39960" y="147265"/>
                  <a:pt x="46100" y="144475"/>
                </a:cubicBezTo>
                <a:lnTo>
                  <a:pt x="46100" y="122746"/>
                </a:lnTo>
                <a:cubicBezTo>
                  <a:pt x="22696" y="131341"/>
                  <a:pt x="5953" y="153888"/>
                  <a:pt x="5953" y="180305"/>
                </a:cubicBezTo>
                <a:cubicBezTo>
                  <a:pt x="5953" y="185924"/>
                  <a:pt x="10530" y="190500"/>
                  <a:pt x="16148" y="190500"/>
                </a:cubicBezTo>
                <a:lnTo>
                  <a:pt x="150502" y="190500"/>
                </a:lnTo>
                <a:cubicBezTo>
                  <a:pt x="156121" y="190500"/>
                  <a:pt x="160697" y="185924"/>
                  <a:pt x="160697" y="180305"/>
                </a:cubicBezTo>
                <a:cubicBezTo>
                  <a:pt x="160697" y="153888"/>
                  <a:pt x="143954" y="131378"/>
                  <a:pt x="120514" y="122783"/>
                </a:cubicBezTo>
                <a:lnTo>
                  <a:pt x="120514" y="136699"/>
                </a:lnTo>
                <a:cubicBezTo>
                  <a:pt x="129183" y="139750"/>
                  <a:pt x="135396" y="148047"/>
                  <a:pt x="135396" y="157758"/>
                </a:cubicBezTo>
                <a:lnTo>
                  <a:pt x="135396" y="169664"/>
                </a:lnTo>
                <a:cubicBezTo>
                  <a:pt x="135396" y="173757"/>
                  <a:pt x="132048" y="177105"/>
                  <a:pt x="127955" y="177105"/>
                </a:cubicBezTo>
                <a:cubicBezTo>
                  <a:pt x="123862" y="177105"/>
                  <a:pt x="120514" y="173757"/>
                  <a:pt x="120514" y="169664"/>
                </a:cubicBezTo>
                <a:lnTo>
                  <a:pt x="120514" y="157758"/>
                </a:lnTo>
                <a:cubicBezTo>
                  <a:pt x="120514" y="153665"/>
                  <a:pt x="117165" y="150316"/>
                  <a:pt x="113072" y="150316"/>
                </a:cubicBezTo>
                <a:cubicBezTo>
                  <a:pt x="108979" y="150316"/>
                  <a:pt x="105631" y="153665"/>
                  <a:pt x="105631" y="157758"/>
                </a:cubicBezTo>
                <a:lnTo>
                  <a:pt x="105631" y="169664"/>
                </a:lnTo>
                <a:cubicBezTo>
                  <a:pt x="105631" y="173757"/>
                  <a:pt x="102282" y="177105"/>
                  <a:pt x="98189" y="177105"/>
                </a:cubicBezTo>
                <a:cubicBezTo>
                  <a:pt x="94097" y="177105"/>
                  <a:pt x="90748" y="173757"/>
                  <a:pt x="90748" y="169664"/>
                </a:cubicBezTo>
                <a:lnTo>
                  <a:pt x="90748" y="157758"/>
                </a:lnTo>
                <a:cubicBezTo>
                  <a:pt x="90748" y="148047"/>
                  <a:pt x="96962" y="139787"/>
                  <a:pt x="105631" y="136699"/>
                </a:cubicBezTo>
                <a:lnTo>
                  <a:pt x="105631" y="11936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386840" y="2606041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Кардиологи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6840" y="2910841"/>
            <a:ext cx="4276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Для быстрой первичной оценки и скрининга большого количества пациентов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" y="3672841"/>
            <a:ext cx="5114925" cy="1066800"/>
          </a:xfrm>
          <a:custGeom>
            <a:avLst/>
            <a:gdLst/>
            <a:ahLst/>
            <a:cxnLst/>
            <a:rect l="l" t="t" r="r" b="b"/>
            <a:pathLst>
              <a:path w="5114925" h="1066800">
                <a:moveTo>
                  <a:pt x="114297" y="0"/>
                </a:moveTo>
                <a:lnTo>
                  <a:pt x="5000628" y="0"/>
                </a:lnTo>
                <a:cubicBezTo>
                  <a:pt x="5063753" y="0"/>
                  <a:pt x="5114925" y="51172"/>
                  <a:pt x="5114925" y="114297"/>
                </a:cubicBezTo>
                <a:lnTo>
                  <a:pt x="5114925" y="952503"/>
                </a:lnTo>
                <a:cubicBezTo>
                  <a:pt x="5114925" y="1015628"/>
                  <a:pt x="5063753" y="1066800"/>
                  <a:pt x="5000628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252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98684" y="395859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386840" y="3825241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Студенты и исследователи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6840" y="4130041"/>
            <a:ext cx="4276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Для обучения, исследований и разработки новых методов анализа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1413510"/>
            <a:ext cx="5589270" cy="3093720"/>
          </a:xfrm>
          <a:custGeom>
            <a:avLst/>
            <a:gdLst/>
            <a:ahLst/>
            <a:cxnLst/>
            <a:rect l="l" t="t" r="r" b="b"/>
            <a:pathLst>
              <a:path w="5589270" h="3093720">
                <a:moveTo>
                  <a:pt x="152397" y="0"/>
                </a:moveTo>
                <a:lnTo>
                  <a:pt x="5436873" y="0"/>
                </a:lnTo>
                <a:cubicBezTo>
                  <a:pt x="5521040" y="0"/>
                  <a:pt x="5589270" y="68230"/>
                  <a:pt x="5589270" y="152397"/>
                </a:cubicBezTo>
                <a:lnTo>
                  <a:pt x="5589270" y="2941323"/>
                </a:lnTo>
                <a:cubicBezTo>
                  <a:pt x="5589270" y="3025490"/>
                  <a:pt x="5521040" y="3093720"/>
                  <a:pt x="5436873" y="3093720"/>
                </a:cubicBezTo>
                <a:lnTo>
                  <a:pt x="152397" y="3093720"/>
                </a:lnTo>
                <a:cubicBezTo>
                  <a:pt x="68230" y="3093720"/>
                  <a:pt x="0" y="3025490"/>
                  <a:pt x="0" y="29413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6459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608445" y="18364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7208520" y="1798320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Вторичные пользователи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2446020"/>
            <a:ext cx="5124450" cy="838200"/>
          </a:xfrm>
          <a:custGeom>
            <a:avLst/>
            <a:gdLst/>
            <a:ahLst/>
            <a:cxnLst/>
            <a:rect l="l" t="t" r="r" b="b"/>
            <a:pathLst>
              <a:path w="5124450" h="838200">
                <a:moveTo>
                  <a:pt x="114297" y="0"/>
                </a:moveTo>
                <a:lnTo>
                  <a:pt x="5010153" y="0"/>
                </a:lnTo>
                <a:cubicBezTo>
                  <a:pt x="5073278" y="0"/>
                  <a:pt x="5124450" y="51172"/>
                  <a:pt x="5124450" y="114297"/>
                </a:cubicBezTo>
                <a:lnTo>
                  <a:pt x="5124450" y="723903"/>
                </a:lnTo>
                <a:cubicBezTo>
                  <a:pt x="5124450" y="787028"/>
                  <a:pt x="5073278" y="838200"/>
                  <a:pt x="50101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98920" y="2598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75569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720364" y="2731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1F5F9">
              <a:alpha val="7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08520" y="259842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Health-tech разработчики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8520" y="290322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API в свои медицинские приложения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3436620"/>
            <a:ext cx="5124450" cy="838200"/>
          </a:xfrm>
          <a:custGeom>
            <a:avLst/>
            <a:gdLst/>
            <a:ahLst/>
            <a:cxnLst/>
            <a:rect l="l" t="t" r="r" b="b"/>
            <a:pathLst>
              <a:path w="5124450" h="838200">
                <a:moveTo>
                  <a:pt x="114297" y="0"/>
                </a:moveTo>
                <a:lnTo>
                  <a:pt x="5010153" y="0"/>
                </a:lnTo>
                <a:cubicBezTo>
                  <a:pt x="5073278" y="0"/>
                  <a:pt x="5124450" y="51172"/>
                  <a:pt x="5124450" y="114297"/>
                </a:cubicBezTo>
                <a:lnTo>
                  <a:pt x="5124450" y="723903"/>
                </a:lnTo>
                <a:cubicBezTo>
                  <a:pt x="5124450" y="787028"/>
                  <a:pt x="5073278" y="838200"/>
                  <a:pt x="50101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98920" y="35890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75569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720364" y="37223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F1F5F9">
              <a:alpha val="7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08520" y="358902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Клиники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08520" y="389382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Пилотные проекты для тестирования в реальных условиях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4110" y="4705351"/>
            <a:ext cx="5589270" cy="922020"/>
          </a:xfrm>
          <a:custGeom>
            <a:avLst/>
            <a:gdLst/>
            <a:ahLst/>
            <a:cxnLst/>
            <a:rect l="l" t="t" r="r" b="b"/>
            <a:pathLst>
              <a:path w="5589270" h="922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807717"/>
                </a:lnTo>
                <a:cubicBezTo>
                  <a:pt x="5589270" y="870845"/>
                  <a:pt x="5538095" y="922020"/>
                  <a:pt x="54749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10000"/>
                </a:srgbClr>
              </a:gs>
              <a:gs pos="100000">
                <a:srgbClr val="38BDF8">
                  <a:alpha val="5000"/>
                </a:srgbClr>
              </a:gs>
            </a:gsLst>
            <a:lin ang="0" scaled="1"/>
          </a:gra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7945" y="50520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6772989" y="4899661"/>
            <a:ext cx="4924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Фокус:</a:t>
            </a: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Профессионалы, которым нужен быстрый инструмент анализа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49250"/>
            <a:ext cx="30241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работает система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9375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и поток данных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698500"/>
            <a:ext cx="11547475" cy="2276475"/>
          </a:xfrm>
          <a:custGeom>
            <a:avLst/>
            <a:gdLst/>
            <a:ahLst/>
            <a:cxnLst/>
            <a:rect l="l" t="t" r="r" b="b"/>
            <a:pathLst>
              <a:path w="11547475" h="2276475">
                <a:moveTo>
                  <a:pt x="127005" y="0"/>
                </a:moveTo>
                <a:lnTo>
                  <a:pt x="11420470" y="0"/>
                </a:lnTo>
                <a:cubicBezTo>
                  <a:pt x="11490613" y="0"/>
                  <a:pt x="11547475" y="56862"/>
                  <a:pt x="11547475" y="127005"/>
                </a:cubicBezTo>
                <a:lnTo>
                  <a:pt x="11547475" y="2149470"/>
                </a:lnTo>
                <a:cubicBezTo>
                  <a:pt x="11547475" y="2219613"/>
                  <a:pt x="11490613" y="2276475"/>
                  <a:pt x="11420470" y="2276475"/>
                </a:cubicBezTo>
                <a:lnTo>
                  <a:pt x="127005" y="2276475"/>
                </a:lnTo>
                <a:cubicBezTo>
                  <a:pt x="56862" y="2276475"/>
                  <a:pt x="0" y="2219613"/>
                  <a:pt x="0" y="2149470"/>
                </a:cubicBezTo>
                <a:lnTo>
                  <a:pt x="0" y="127005"/>
                </a:lnTo>
                <a:cubicBezTo>
                  <a:pt x="0" y="56909"/>
                  <a:pt x="56909" y="0"/>
                  <a:pt x="127005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" y="892175"/>
            <a:ext cx="1125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Поток обработки данных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4350" y="1339752"/>
            <a:ext cx="3348037" cy="1435100"/>
          </a:xfrm>
          <a:custGeom>
            <a:avLst/>
            <a:gdLst/>
            <a:ahLst/>
            <a:cxnLst/>
            <a:rect l="l" t="t" r="r" b="b"/>
            <a:pathLst>
              <a:path w="3348037" h="1435100">
                <a:moveTo>
                  <a:pt x="95248" y="0"/>
                </a:moveTo>
                <a:lnTo>
                  <a:pt x="3252790" y="0"/>
                </a:lnTo>
                <a:cubicBezTo>
                  <a:pt x="3305394" y="0"/>
                  <a:pt x="3348037" y="42644"/>
                  <a:pt x="3348037" y="95248"/>
                </a:cubicBezTo>
                <a:lnTo>
                  <a:pt x="3348037" y="1339852"/>
                </a:lnTo>
                <a:cubicBezTo>
                  <a:pt x="3348037" y="1392456"/>
                  <a:pt x="3305394" y="1435100"/>
                  <a:pt x="3252790" y="1435100"/>
                </a:cubicBezTo>
                <a:lnTo>
                  <a:pt x="95248" y="1435100"/>
                </a:lnTo>
                <a:cubicBezTo>
                  <a:pt x="42644" y="1435100"/>
                  <a:pt x="0" y="1392456"/>
                  <a:pt x="0" y="1339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3774" y="15016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2104430" y="166042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36587" y="2136677"/>
            <a:ext cx="310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Загрузка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525" y="2422427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Пользователь загружает файл ЭКГ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23221" y="193823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129573"/>
                </a:moveTo>
                <a:cubicBezTo>
                  <a:pt x="239567" y="123760"/>
                  <a:pt x="239567" y="114319"/>
                  <a:pt x="233753" y="108505"/>
                </a:cubicBezTo>
                <a:lnTo>
                  <a:pt x="159339" y="34091"/>
                </a:lnTo>
                <a:cubicBezTo>
                  <a:pt x="153526" y="28277"/>
                  <a:pt x="144084" y="28277"/>
                  <a:pt x="138271" y="34091"/>
                </a:cubicBezTo>
                <a:cubicBezTo>
                  <a:pt x="132457" y="39905"/>
                  <a:pt x="132457" y="49346"/>
                  <a:pt x="138271" y="55159"/>
                </a:cubicBezTo>
                <a:lnTo>
                  <a:pt x="187291" y="104180"/>
                </a:lnTo>
                <a:lnTo>
                  <a:pt x="14883" y="104180"/>
                </a:ln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187291" y="133945"/>
                </a:lnTo>
                <a:lnTo>
                  <a:pt x="138271" y="182966"/>
                </a:lnTo>
                <a:cubicBezTo>
                  <a:pt x="132457" y="188779"/>
                  <a:pt x="132457" y="198220"/>
                  <a:pt x="138271" y="204034"/>
                </a:cubicBezTo>
                <a:cubicBezTo>
                  <a:pt x="144084" y="209848"/>
                  <a:pt x="153526" y="209848"/>
                  <a:pt x="159339" y="204034"/>
                </a:cubicBezTo>
                <a:lnTo>
                  <a:pt x="233753" y="12962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9302" y="1339752"/>
            <a:ext cx="3348037" cy="1435100"/>
          </a:xfrm>
          <a:custGeom>
            <a:avLst/>
            <a:gdLst/>
            <a:ahLst/>
            <a:cxnLst/>
            <a:rect l="l" t="t" r="r" b="b"/>
            <a:pathLst>
              <a:path w="3348037" h="1435100">
                <a:moveTo>
                  <a:pt x="95248" y="0"/>
                </a:moveTo>
                <a:lnTo>
                  <a:pt x="3252790" y="0"/>
                </a:lnTo>
                <a:cubicBezTo>
                  <a:pt x="3305394" y="0"/>
                  <a:pt x="3348037" y="42644"/>
                  <a:pt x="3348037" y="95248"/>
                </a:cubicBezTo>
                <a:lnTo>
                  <a:pt x="3348037" y="1339852"/>
                </a:lnTo>
                <a:cubicBezTo>
                  <a:pt x="3348037" y="1392456"/>
                  <a:pt x="3305394" y="1435100"/>
                  <a:pt x="3252790" y="1435100"/>
                </a:cubicBezTo>
                <a:lnTo>
                  <a:pt x="95248" y="1435100"/>
                </a:lnTo>
                <a:cubicBezTo>
                  <a:pt x="42644" y="1435100"/>
                  <a:pt x="0" y="1392456"/>
                  <a:pt x="0" y="1339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8825" y="15016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973763" y="166042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41540" y="2136677"/>
            <a:ext cx="310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Обработка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49477" y="2422427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AI-модель анализирует сигнал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28273" y="193823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129573"/>
                </a:moveTo>
                <a:cubicBezTo>
                  <a:pt x="239567" y="123760"/>
                  <a:pt x="239567" y="114319"/>
                  <a:pt x="233753" y="108505"/>
                </a:cubicBezTo>
                <a:lnTo>
                  <a:pt x="159339" y="34091"/>
                </a:lnTo>
                <a:cubicBezTo>
                  <a:pt x="153526" y="28277"/>
                  <a:pt x="144084" y="28277"/>
                  <a:pt x="138271" y="34091"/>
                </a:cubicBezTo>
                <a:cubicBezTo>
                  <a:pt x="132457" y="39905"/>
                  <a:pt x="132457" y="49346"/>
                  <a:pt x="138271" y="55159"/>
                </a:cubicBezTo>
                <a:lnTo>
                  <a:pt x="187291" y="104180"/>
                </a:lnTo>
                <a:lnTo>
                  <a:pt x="14883" y="104180"/>
                </a:ln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187291" y="133945"/>
                </a:lnTo>
                <a:lnTo>
                  <a:pt x="138271" y="182966"/>
                </a:lnTo>
                <a:cubicBezTo>
                  <a:pt x="132457" y="188779"/>
                  <a:pt x="132457" y="198220"/>
                  <a:pt x="138271" y="204034"/>
                </a:cubicBezTo>
                <a:cubicBezTo>
                  <a:pt x="144084" y="209848"/>
                  <a:pt x="153526" y="209848"/>
                  <a:pt x="159339" y="204034"/>
                </a:cubicBezTo>
                <a:lnTo>
                  <a:pt x="233753" y="12962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324354" y="1339752"/>
            <a:ext cx="3348037" cy="1435100"/>
          </a:xfrm>
          <a:custGeom>
            <a:avLst/>
            <a:gdLst/>
            <a:ahLst/>
            <a:cxnLst/>
            <a:rect l="l" t="t" r="r" b="b"/>
            <a:pathLst>
              <a:path w="3348037" h="1435100">
                <a:moveTo>
                  <a:pt x="95248" y="0"/>
                </a:moveTo>
                <a:lnTo>
                  <a:pt x="3252790" y="0"/>
                </a:lnTo>
                <a:cubicBezTo>
                  <a:pt x="3305394" y="0"/>
                  <a:pt x="3348037" y="42644"/>
                  <a:pt x="3348037" y="95248"/>
                </a:cubicBezTo>
                <a:lnTo>
                  <a:pt x="3348037" y="1339852"/>
                </a:lnTo>
                <a:cubicBezTo>
                  <a:pt x="3348037" y="1392456"/>
                  <a:pt x="3305394" y="1435100"/>
                  <a:pt x="3252790" y="1435100"/>
                </a:cubicBezTo>
                <a:lnTo>
                  <a:pt x="95248" y="1435100"/>
                </a:lnTo>
                <a:cubicBezTo>
                  <a:pt x="42644" y="1435100"/>
                  <a:pt x="0" y="1392456"/>
                  <a:pt x="0" y="1339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43778" y="15016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902528" y="166042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8446591" y="2136677"/>
            <a:ext cx="310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Результат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4529" y="2422427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 классификации и метрик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3168551"/>
            <a:ext cx="5673725" cy="3562350"/>
          </a:xfrm>
          <a:custGeom>
            <a:avLst/>
            <a:gdLst/>
            <a:ahLst/>
            <a:cxnLst/>
            <a:rect l="l" t="t" r="r" b="b"/>
            <a:pathLst>
              <a:path w="5673725" h="3562350">
                <a:moveTo>
                  <a:pt x="126998" y="0"/>
                </a:moveTo>
                <a:lnTo>
                  <a:pt x="5546727" y="0"/>
                </a:lnTo>
                <a:cubicBezTo>
                  <a:pt x="5616866" y="0"/>
                  <a:pt x="5673725" y="56859"/>
                  <a:pt x="5673725" y="126998"/>
                </a:cubicBezTo>
                <a:lnTo>
                  <a:pt x="5673725" y="3435352"/>
                </a:lnTo>
                <a:cubicBezTo>
                  <a:pt x="5673725" y="3505491"/>
                  <a:pt x="5616866" y="3562350"/>
                  <a:pt x="5546727" y="3562350"/>
                </a:cubicBezTo>
                <a:lnTo>
                  <a:pt x="126998" y="3562350"/>
                </a:lnTo>
                <a:cubicBezTo>
                  <a:pt x="56859" y="3562350"/>
                  <a:pt x="0" y="3505491"/>
                  <a:pt x="0" y="3435352"/>
                </a:cubicBezTo>
                <a:lnTo>
                  <a:pt x="0" y="126998"/>
                </a:lnTo>
                <a:cubicBezTo>
                  <a:pt x="0" y="56859"/>
                  <a:pt x="56859" y="0"/>
                  <a:pt x="126998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75" y="3362226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системы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1175" y="3774877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8175" y="39177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" y="3997127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6175" y="3901877"/>
            <a:ext cx="154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6175" y="4124127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Интерфейс пользователя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84513" y="453687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2" name="Shape 30"/>
          <p:cNvSpPr/>
          <p:nvPr/>
        </p:nvSpPr>
        <p:spPr>
          <a:xfrm>
            <a:off x="511175" y="4822627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8175" y="49655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87102" y="5044877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46175" y="4949627"/>
            <a:ext cx="123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6175" y="5171877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и бизнес-логика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084513" y="558462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8" name="Shape 36"/>
          <p:cNvSpPr/>
          <p:nvPr/>
        </p:nvSpPr>
        <p:spPr>
          <a:xfrm>
            <a:off x="511175" y="5870377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8175" y="60132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86507" y="6092627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46175" y="5997377"/>
            <a:ext cx="178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Сервис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6175" y="6219627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машинного обучения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1250" y="3168551"/>
            <a:ext cx="5673725" cy="3562350"/>
          </a:xfrm>
          <a:custGeom>
            <a:avLst/>
            <a:gdLst/>
            <a:ahLst/>
            <a:cxnLst/>
            <a:rect l="l" t="t" r="r" b="b"/>
            <a:pathLst>
              <a:path w="5673725" h="3562350">
                <a:moveTo>
                  <a:pt x="126998" y="0"/>
                </a:moveTo>
                <a:lnTo>
                  <a:pt x="5546727" y="0"/>
                </a:lnTo>
                <a:cubicBezTo>
                  <a:pt x="5616866" y="0"/>
                  <a:pt x="5673725" y="56859"/>
                  <a:pt x="5673725" y="126998"/>
                </a:cubicBezTo>
                <a:lnTo>
                  <a:pt x="5673725" y="3435352"/>
                </a:lnTo>
                <a:cubicBezTo>
                  <a:pt x="5673725" y="3505491"/>
                  <a:pt x="5616866" y="3562350"/>
                  <a:pt x="5546727" y="3562350"/>
                </a:cubicBezTo>
                <a:lnTo>
                  <a:pt x="126998" y="3562350"/>
                </a:lnTo>
                <a:cubicBezTo>
                  <a:pt x="56859" y="3562350"/>
                  <a:pt x="0" y="3505491"/>
                  <a:pt x="0" y="3435352"/>
                </a:cubicBezTo>
                <a:lnTo>
                  <a:pt x="0" y="126998"/>
                </a:lnTo>
                <a:cubicBezTo>
                  <a:pt x="0" y="56859"/>
                  <a:pt x="56859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1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4925" y="3362226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получает пользователь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4925" y="377487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96050" y="38860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077" y="29766"/>
                </a:moveTo>
                <a:lnTo>
                  <a:pt x="10077" y="76119"/>
                </a:lnTo>
                <a:cubicBezTo>
                  <a:pt x="10077" y="81390"/>
                  <a:pt x="12154" y="86444"/>
                  <a:pt x="15875" y="90165"/>
                </a:cubicBezTo>
                <a:lnTo>
                  <a:pt x="75406" y="149696"/>
                </a:lnTo>
                <a:cubicBezTo>
                  <a:pt x="83158" y="157448"/>
                  <a:pt x="95715" y="157448"/>
                  <a:pt x="103467" y="149696"/>
                </a:cubicBezTo>
                <a:lnTo>
                  <a:pt x="149820" y="103343"/>
                </a:lnTo>
                <a:cubicBezTo>
                  <a:pt x="157572" y="95591"/>
                  <a:pt x="157572" y="83034"/>
                  <a:pt x="149820" y="75282"/>
                </a:cubicBezTo>
                <a:lnTo>
                  <a:pt x="90289" y="15751"/>
                </a:lnTo>
                <a:cubicBezTo>
                  <a:pt x="86568" y="11999"/>
                  <a:pt x="81545" y="9922"/>
                  <a:pt x="76274" y="9922"/>
                </a:cubicBezTo>
                <a:lnTo>
                  <a:pt x="29921" y="9922"/>
                </a:lnTo>
                <a:cubicBezTo>
                  <a:pt x="18976" y="9922"/>
                  <a:pt x="10077" y="18821"/>
                  <a:pt x="10077" y="29766"/>
                </a:cubicBezTo>
                <a:close/>
                <a:moveTo>
                  <a:pt x="44803" y="34727"/>
                </a:moveTo>
                <a:cubicBezTo>
                  <a:pt x="50279" y="34727"/>
                  <a:pt x="54725" y="39172"/>
                  <a:pt x="54725" y="44648"/>
                </a:cubicBezTo>
                <a:cubicBezTo>
                  <a:pt x="54725" y="50124"/>
                  <a:pt x="50279" y="54570"/>
                  <a:pt x="44803" y="54570"/>
                </a:cubicBezTo>
                <a:cubicBezTo>
                  <a:pt x="39327" y="54570"/>
                  <a:pt x="34882" y="50124"/>
                  <a:pt x="34882" y="44648"/>
                </a:cubicBezTo>
                <a:cubicBezTo>
                  <a:pt x="34882" y="39172"/>
                  <a:pt x="39327" y="34727"/>
                  <a:pt x="44803" y="3472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6892925" y="3774877"/>
            <a:ext cx="360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 ритма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92925" y="4028877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Определённый тип сердечного ритма (норма, аритмия и др.)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4925" y="434637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05972" y="445750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9531" y="39688"/>
                </a:moveTo>
                <a:cubicBezTo>
                  <a:pt x="59531" y="23259"/>
                  <a:pt x="46194" y="9922"/>
                  <a:pt x="29766" y="9922"/>
                </a:cubicBezTo>
                <a:cubicBezTo>
                  <a:pt x="13338" y="9922"/>
                  <a:pt x="0" y="23259"/>
                  <a:pt x="0" y="39688"/>
                </a:cubicBezTo>
                <a:cubicBezTo>
                  <a:pt x="0" y="56116"/>
                  <a:pt x="13338" y="69453"/>
                  <a:pt x="29766" y="69453"/>
                </a:cubicBezTo>
                <a:cubicBezTo>
                  <a:pt x="46194" y="69453"/>
                  <a:pt x="59531" y="56116"/>
                  <a:pt x="59531" y="39688"/>
                </a:cubicBezTo>
                <a:close/>
                <a:moveTo>
                  <a:pt x="138906" y="119062"/>
                </a:moveTo>
                <a:cubicBezTo>
                  <a:pt x="138906" y="102634"/>
                  <a:pt x="125569" y="89297"/>
                  <a:pt x="109141" y="89297"/>
                </a:cubicBezTo>
                <a:cubicBezTo>
                  <a:pt x="92713" y="89297"/>
                  <a:pt x="79375" y="102634"/>
                  <a:pt x="79375" y="119062"/>
                </a:cubicBezTo>
                <a:cubicBezTo>
                  <a:pt x="79375" y="135491"/>
                  <a:pt x="92713" y="148828"/>
                  <a:pt x="109141" y="148828"/>
                </a:cubicBezTo>
                <a:cubicBezTo>
                  <a:pt x="125569" y="148828"/>
                  <a:pt x="138906" y="135491"/>
                  <a:pt x="138906" y="119062"/>
                </a:cubicBezTo>
                <a:close/>
                <a:moveTo>
                  <a:pt x="135992" y="26851"/>
                </a:moveTo>
                <a:cubicBezTo>
                  <a:pt x="139867" y="22975"/>
                  <a:pt x="139867" y="16681"/>
                  <a:pt x="135992" y="12805"/>
                </a:cubicBezTo>
                <a:cubicBezTo>
                  <a:pt x="132116" y="8930"/>
                  <a:pt x="125822" y="8930"/>
                  <a:pt x="121946" y="12805"/>
                </a:cubicBezTo>
                <a:lnTo>
                  <a:pt x="2884" y="131868"/>
                </a:lnTo>
                <a:cubicBezTo>
                  <a:pt x="-992" y="135744"/>
                  <a:pt x="-992" y="142038"/>
                  <a:pt x="2884" y="145914"/>
                </a:cubicBezTo>
                <a:cubicBezTo>
                  <a:pt x="6759" y="149789"/>
                  <a:pt x="13053" y="149789"/>
                  <a:pt x="16929" y="145914"/>
                </a:cubicBezTo>
                <a:lnTo>
                  <a:pt x="135992" y="2685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1" name="Text 49"/>
          <p:cNvSpPr/>
          <p:nvPr/>
        </p:nvSpPr>
        <p:spPr>
          <a:xfrm>
            <a:off x="6892925" y="4346377"/>
            <a:ext cx="273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92925" y="4600377"/>
            <a:ext cx="272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Уровень уверенности модели в предсказании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4925" y="491787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96050" y="50290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5" name="Text 53"/>
          <p:cNvSpPr/>
          <p:nvPr/>
        </p:nvSpPr>
        <p:spPr>
          <a:xfrm>
            <a:off x="6892925" y="4917877"/>
            <a:ext cx="249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Визуализация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92925" y="5171877"/>
            <a:ext cx="248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Графическое представление сигнала ЭКГ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dbeea0cf1efef9e453deed3a4e551aef9c45e77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21871" r="21871"/>
          <a:stretch/>
        </p:blipFill>
        <p:spPr>
          <a:xfrm>
            <a:off x="7646727" y="0"/>
            <a:ext cx="4549254" cy="454925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63940" y="363940"/>
            <a:ext cx="72788" cy="436728"/>
          </a:xfrm>
          <a:custGeom>
            <a:avLst/>
            <a:gdLst/>
            <a:ahLst/>
            <a:cxnLst/>
            <a:rect l="l" t="t" r="r" b="b"/>
            <a:pathLst>
              <a:path w="72788" h="436728">
                <a:moveTo>
                  <a:pt x="36394" y="0"/>
                </a:moveTo>
                <a:lnTo>
                  <a:pt x="36394" y="0"/>
                </a:lnTo>
                <a:cubicBezTo>
                  <a:pt x="56480" y="0"/>
                  <a:pt x="72788" y="16308"/>
                  <a:pt x="72788" y="36394"/>
                </a:cubicBezTo>
                <a:lnTo>
                  <a:pt x="72788" y="400334"/>
                </a:lnTo>
                <a:cubicBezTo>
                  <a:pt x="72788" y="420434"/>
                  <a:pt x="56494" y="436728"/>
                  <a:pt x="36394" y="436728"/>
                </a:cubicBezTo>
                <a:lnTo>
                  <a:pt x="36394" y="436728"/>
                </a:lnTo>
                <a:cubicBezTo>
                  <a:pt x="16294" y="436728"/>
                  <a:pt x="0" y="420434"/>
                  <a:pt x="0" y="400334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4" name="Text 1"/>
          <p:cNvSpPr/>
          <p:nvPr/>
        </p:nvSpPr>
        <p:spPr>
          <a:xfrm>
            <a:off x="545910" y="400334"/>
            <a:ext cx="2220036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AI-компонент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5910" y="909851"/>
            <a:ext cx="1137313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и данные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7580" y="1350219"/>
            <a:ext cx="7422562" cy="2518467"/>
          </a:xfrm>
          <a:custGeom>
            <a:avLst/>
            <a:gdLst/>
            <a:ahLst/>
            <a:cxnLst/>
            <a:rect l="l" t="t" r="r" b="b"/>
            <a:pathLst>
              <a:path w="7422562" h="2518467">
                <a:moveTo>
                  <a:pt x="145567" y="0"/>
                </a:moveTo>
                <a:lnTo>
                  <a:pt x="7276995" y="0"/>
                </a:lnTo>
                <a:cubicBezTo>
                  <a:pt x="7357390" y="0"/>
                  <a:pt x="7422562" y="65173"/>
                  <a:pt x="7422562" y="145567"/>
                </a:cubicBezTo>
                <a:lnTo>
                  <a:pt x="7422562" y="2372899"/>
                </a:lnTo>
                <a:cubicBezTo>
                  <a:pt x="7422562" y="2453294"/>
                  <a:pt x="7357390" y="2518467"/>
                  <a:pt x="7276995" y="2518467"/>
                </a:cubicBezTo>
                <a:lnTo>
                  <a:pt x="145567" y="2518467"/>
                </a:lnTo>
                <a:cubicBezTo>
                  <a:pt x="65173" y="2518467"/>
                  <a:pt x="0" y="2453294"/>
                  <a:pt x="0" y="2372899"/>
                </a:cubicBezTo>
                <a:lnTo>
                  <a:pt x="0" y="145567"/>
                </a:lnTo>
                <a:cubicBezTo>
                  <a:pt x="0" y="65227"/>
                  <a:pt x="65227" y="0"/>
                  <a:pt x="14556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583" y="1572225"/>
            <a:ext cx="582304" cy="582304"/>
          </a:xfrm>
          <a:custGeom>
            <a:avLst/>
            <a:gdLst/>
            <a:ahLst/>
            <a:cxnLst/>
            <a:rect l="l" t="t" r="r" b="b"/>
            <a:pathLst>
              <a:path w="582304" h="582304">
                <a:moveTo>
                  <a:pt x="145576" y="0"/>
                </a:moveTo>
                <a:lnTo>
                  <a:pt x="436728" y="0"/>
                </a:lnTo>
                <a:cubicBezTo>
                  <a:pt x="517074" y="0"/>
                  <a:pt x="582304" y="65230"/>
                  <a:pt x="582304" y="145576"/>
                </a:cubicBezTo>
                <a:lnTo>
                  <a:pt x="582304" y="436728"/>
                </a:lnTo>
                <a:cubicBezTo>
                  <a:pt x="582304" y="517074"/>
                  <a:pt x="517074" y="582304"/>
                  <a:pt x="436728" y="582304"/>
                </a:cubicBezTo>
                <a:lnTo>
                  <a:pt x="145576" y="582304"/>
                </a:lnTo>
                <a:cubicBezTo>
                  <a:pt x="65230" y="582304"/>
                  <a:pt x="0" y="517074"/>
                  <a:pt x="0" y="436728"/>
                </a:cubicBezTo>
                <a:lnTo>
                  <a:pt x="0" y="145576"/>
                </a:lnTo>
                <a:cubicBezTo>
                  <a:pt x="0" y="65230"/>
                  <a:pt x="65230" y="0"/>
                  <a:pt x="145576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85201" y="1754195"/>
            <a:ext cx="191069" cy="218364"/>
          </a:xfrm>
          <a:custGeom>
            <a:avLst/>
            <a:gdLst/>
            <a:ahLst/>
            <a:cxnLst/>
            <a:rect l="l" t="t" r="r" b="b"/>
            <a:pathLst>
              <a:path w="191069" h="218364">
                <a:moveTo>
                  <a:pt x="191069" y="87772"/>
                </a:moveTo>
                <a:cubicBezTo>
                  <a:pt x="184757" y="91952"/>
                  <a:pt x="177506" y="95321"/>
                  <a:pt x="169957" y="98008"/>
                </a:cubicBezTo>
                <a:cubicBezTo>
                  <a:pt x="149912" y="105173"/>
                  <a:pt x="123598" y="109182"/>
                  <a:pt x="95534" y="109182"/>
                </a:cubicBezTo>
                <a:cubicBezTo>
                  <a:pt x="67471" y="109182"/>
                  <a:pt x="41114" y="105130"/>
                  <a:pt x="21111" y="98008"/>
                </a:cubicBezTo>
                <a:cubicBezTo>
                  <a:pt x="13605" y="95321"/>
                  <a:pt x="6312" y="91952"/>
                  <a:pt x="0" y="87772"/>
                </a:cubicBezTo>
                <a:lnTo>
                  <a:pt x="0" y="122830"/>
                </a:lnTo>
                <a:cubicBezTo>
                  <a:pt x="0" y="141681"/>
                  <a:pt x="42777" y="156949"/>
                  <a:pt x="95534" y="156949"/>
                </a:cubicBezTo>
                <a:cubicBezTo>
                  <a:pt x="148291" y="156949"/>
                  <a:pt x="191069" y="141681"/>
                  <a:pt x="191069" y="122830"/>
                </a:cubicBezTo>
                <a:lnTo>
                  <a:pt x="191069" y="87772"/>
                </a:lnTo>
                <a:close/>
                <a:moveTo>
                  <a:pt x="191069" y="54591"/>
                </a:moveTo>
                <a:lnTo>
                  <a:pt x="191069" y="34119"/>
                </a:lnTo>
                <a:cubicBezTo>
                  <a:pt x="191069" y="15268"/>
                  <a:pt x="148291" y="0"/>
                  <a:pt x="95534" y="0"/>
                </a:cubicBezTo>
                <a:cubicBezTo>
                  <a:pt x="42777" y="0"/>
                  <a:pt x="0" y="15268"/>
                  <a:pt x="0" y="34119"/>
                </a:cubicBezTo>
                <a:lnTo>
                  <a:pt x="0" y="54591"/>
                </a:lnTo>
                <a:cubicBezTo>
                  <a:pt x="0" y="73442"/>
                  <a:pt x="42777" y="88710"/>
                  <a:pt x="95534" y="88710"/>
                </a:cubicBezTo>
                <a:cubicBezTo>
                  <a:pt x="148291" y="88710"/>
                  <a:pt x="191069" y="73442"/>
                  <a:pt x="191069" y="54591"/>
                </a:cubicBezTo>
                <a:close/>
                <a:moveTo>
                  <a:pt x="169957" y="166247"/>
                </a:moveTo>
                <a:cubicBezTo>
                  <a:pt x="149955" y="173369"/>
                  <a:pt x="123640" y="177421"/>
                  <a:pt x="95534" y="177421"/>
                </a:cubicBezTo>
                <a:cubicBezTo>
                  <a:pt x="67428" y="177421"/>
                  <a:pt x="41114" y="173369"/>
                  <a:pt x="21111" y="166247"/>
                </a:cubicBezTo>
                <a:cubicBezTo>
                  <a:pt x="13605" y="163560"/>
                  <a:pt x="6312" y="160191"/>
                  <a:pt x="0" y="156011"/>
                </a:cubicBezTo>
                <a:lnTo>
                  <a:pt x="0" y="184245"/>
                </a:lnTo>
                <a:cubicBezTo>
                  <a:pt x="0" y="203096"/>
                  <a:pt x="42777" y="218364"/>
                  <a:pt x="95534" y="218364"/>
                </a:cubicBezTo>
                <a:cubicBezTo>
                  <a:pt x="148291" y="218364"/>
                  <a:pt x="191069" y="203096"/>
                  <a:pt x="191069" y="184245"/>
                </a:cubicBezTo>
                <a:lnTo>
                  <a:pt x="191069" y="156011"/>
                </a:lnTo>
                <a:cubicBezTo>
                  <a:pt x="184757" y="160191"/>
                  <a:pt x="177506" y="163560"/>
                  <a:pt x="169957" y="16624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1317464" y="1717801"/>
            <a:ext cx="891654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9583" y="2336499"/>
            <a:ext cx="3217307" cy="1310185"/>
          </a:xfrm>
          <a:custGeom>
            <a:avLst/>
            <a:gdLst/>
            <a:ahLst/>
            <a:cxnLst/>
            <a:rect l="l" t="t" r="r" b="b"/>
            <a:pathLst>
              <a:path w="6978555" h="1310185">
                <a:moveTo>
                  <a:pt x="109178" y="0"/>
                </a:moveTo>
                <a:lnTo>
                  <a:pt x="6869378" y="0"/>
                </a:lnTo>
                <a:cubicBezTo>
                  <a:pt x="6929675" y="0"/>
                  <a:pt x="6978555" y="48881"/>
                  <a:pt x="6978555" y="109178"/>
                </a:cubicBezTo>
                <a:lnTo>
                  <a:pt x="6978555" y="1201007"/>
                </a:lnTo>
                <a:cubicBezTo>
                  <a:pt x="6978555" y="1261305"/>
                  <a:pt x="6929675" y="1310185"/>
                  <a:pt x="6869378" y="1310185"/>
                </a:cubicBezTo>
                <a:lnTo>
                  <a:pt x="109178" y="1310185"/>
                </a:lnTo>
                <a:cubicBezTo>
                  <a:pt x="48881" y="1310185"/>
                  <a:pt x="0" y="1261305"/>
                  <a:pt x="0" y="1201007"/>
                </a:cubicBezTo>
                <a:lnTo>
                  <a:pt x="0" y="109178"/>
                </a:lnTo>
                <a:cubicBezTo>
                  <a:pt x="0" y="48881"/>
                  <a:pt x="48881" y="0"/>
                  <a:pt x="10917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5159" y="2416338"/>
            <a:ext cx="676929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ECG Heartbeat Dataset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5159" y="2725802"/>
            <a:ext cx="2938307" cy="35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Стандартный набор данных для классификации сердечных ритмов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5159" y="3137168"/>
            <a:ext cx="991737" cy="363940"/>
          </a:xfrm>
          <a:custGeom>
            <a:avLst/>
            <a:gdLst/>
            <a:ahLst/>
            <a:cxnLst/>
            <a:rect l="l" t="t" r="r" b="b"/>
            <a:pathLst>
              <a:path w="991737" h="363940">
                <a:moveTo>
                  <a:pt x="72788" y="0"/>
                </a:moveTo>
                <a:lnTo>
                  <a:pt x="918949" y="0"/>
                </a:lnTo>
                <a:cubicBezTo>
                  <a:pt x="959149" y="0"/>
                  <a:pt x="991737" y="32588"/>
                  <a:pt x="991737" y="72788"/>
                </a:cubicBezTo>
                <a:lnTo>
                  <a:pt x="991737" y="291152"/>
                </a:lnTo>
                <a:cubicBezTo>
                  <a:pt x="991737" y="331325"/>
                  <a:pt x="959122" y="363940"/>
                  <a:pt x="918949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80736" y="3209956"/>
            <a:ext cx="772918" cy="211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~187 точек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35624" y="3209956"/>
            <a:ext cx="1364776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 один сигнал ЭКГ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7580" y="4057935"/>
            <a:ext cx="7422562" cy="2391088"/>
          </a:xfrm>
          <a:custGeom>
            <a:avLst/>
            <a:gdLst/>
            <a:ahLst/>
            <a:cxnLst/>
            <a:rect l="l" t="t" r="r" b="b"/>
            <a:pathLst>
              <a:path w="7422562" h="2391088">
                <a:moveTo>
                  <a:pt x="145569" y="0"/>
                </a:moveTo>
                <a:lnTo>
                  <a:pt x="7276993" y="0"/>
                </a:lnTo>
                <a:cubicBezTo>
                  <a:pt x="7357335" y="0"/>
                  <a:pt x="7422562" y="65227"/>
                  <a:pt x="7422562" y="145569"/>
                </a:cubicBezTo>
                <a:lnTo>
                  <a:pt x="7422562" y="2245518"/>
                </a:lnTo>
                <a:cubicBezTo>
                  <a:pt x="7422562" y="2325914"/>
                  <a:pt x="7357389" y="2391088"/>
                  <a:pt x="7276993" y="2391088"/>
                </a:cubicBezTo>
                <a:lnTo>
                  <a:pt x="145569" y="2391088"/>
                </a:lnTo>
                <a:cubicBezTo>
                  <a:pt x="65227" y="2391088"/>
                  <a:pt x="0" y="2325860"/>
                  <a:pt x="0" y="2245518"/>
                </a:cubicBezTo>
                <a:lnTo>
                  <a:pt x="0" y="145569"/>
                </a:lnTo>
                <a:cubicBezTo>
                  <a:pt x="0" y="65227"/>
                  <a:pt x="65227" y="0"/>
                  <a:pt x="14556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9583" y="4279937"/>
            <a:ext cx="582304" cy="582304"/>
          </a:xfrm>
          <a:custGeom>
            <a:avLst/>
            <a:gdLst/>
            <a:ahLst/>
            <a:cxnLst/>
            <a:rect l="l" t="t" r="r" b="b"/>
            <a:pathLst>
              <a:path w="582304" h="582304">
                <a:moveTo>
                  <a:pt x="145576" y="0"/>
                </a:moveTo>
                <a:lnTo>
                  <a:pt x="436728" y="0"/>
                </a:lnTo>
                <a:cubicBezTo>
                  <a:pt x="517074" y="0"/>
                  <a:pt x="582304" y="65230"/>
                  <a:pt x="582304" y="145576"/>
                </a:cubicBezTo>
                <a:lnTo>
                  <a:pt x="582304" y="436728"/>
                </a:lnTo>
                <a:cubicBezTo>
                  <a:pt x="582304" y="517074"/>
                  <a:pt x="517074" y="582304"/>
                  <a:pt x="436728" y="582304"/>
                </a:cubicBezTo>
                <a:lnTo>
                  <a:pt x="145576" y="582304"/>
                </a:lnTo>
                <a:cubicBezTo>
                  <a:pt x="65230" y="582304"/>
                  <a:pt x="0" y="517074"/>
                  <a:pt x="0" y="436728"/>
                </a:cubicBezTo>
                <a:lnTo>
                  <a:pt x="0" y="145576"/>
                </a:lnTo>
                <a:cubicBezTo>
                  <a:pt x="0" y="65230"/>
                  <a:pt x="65230" y="0"/>
                  <a:pt x="145576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71553" y="4461907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51179" y="23884"/>
                </a:moveTo>
                <a:cubicBezTo>
                  <a:pt x="51179" y="10705"/>
                  <a:pt x="61884" y="0"/>
                  <a:pt x="75063" y="0"/>
                </a:cubicBezTo>
                <a:lnTo>
                  <a:pt x="85299" y="0"/>
                </a:lnTo>
                <a:cubicBezTo>
                  <a:pt x="92847" y="0"/>
                  <a:pt x="98946" y="6099"/>
                  <a:pt x="98946" y="13648"/>
                </a:cubicBezTo>
                <a:lnTo>
                  <a:pt x="98946" y="204716"/>
                </a:lnTo>
                <a:cubicBezTo>
                  <a:pt x="98946" y="212265"/>
                  <a:pt x="92847" y="218364"/>
                  <a:pt x="85299" y="218364"/>
                </a:cubicBezTo>
                <a:lnTo>
                  <a:pt x="71651" y="218364"/>
                </a:lnTo>
                <a:cubicBezTo>
                  <a:pt x="58941" y="218364"/>
                  <a:pt x="48236" y="209664"/>
                  <a:pt x="45208" y="197893"/>
                </a:cubicBezTo>
                <a:cubicBezTo>
                  <a:pt x="44910" y="197893"/>
                  <a:pt x="44654" y="197893"/>
                  <a:pt x="44355" y="197893"/>
                </a:cubicBezTo>
                <a:cubicBezTo>
                  <a:pt x="25504" y="197893"/>
                  <a:pt x="10236" y="182624"/>
                  <a:pt x="10236" y="163773"/>
                </a:cubicBezTo>
                <a:cubicBezTo>
                  <a:pt x="10236" y="156096"/>
                  <a:pt x="12795" y="149016"/>
                  <a:pt x="17060" y="143301"/>
                </a:cubicBezTo>
                <a:cubicBezTo>
                  <a:pt x="8786" y="137075"/>
                  <a:pt x="3412" y="127180"/>
                  <a:pt x="3412" y="116006"/>
                </a:cubicBezTo>
                <a:cubicBezTo>
                  <a:pt x="3412" y="102827"/>
                  <a:pt x="10918" y="91355"/>
                  <a:pt x="21836" y="85682"/>
                </a:cubicBezTo>
                <a:cubicBezTo>
                  <a:pt x="18808" y="80564"/>
                  <a:pt x="17060" y="74594"/>
                  <a:pt x="17060" y="68239"/>
                </a:cubicBezTo>
                <a:cubicBezTo>
                  <a:pt x="17060" y="49388"/>
                  <a:pt x="32328" y="34119"/>
                  <a:pt x="51179" y="34119"/>
                </a:cubicBezTo>
                <a:lnTo>
                  <a:pt x="51179" y="23884"/>
                </a:lnTo>
                <a:close/>
                <a:moveTo>
                  <a:pt x="167185" y="23884"/>
                </a:moveTo>
                <a:lnTo>
                  <a:pt x="167185" y="34119"/>
                </a:lnTo>
                <a:cubicBezTo>
                  <a:pt x="186036" y="34119"/>
                  <a:pt x="201304" y="49388"/>
                  <a:pt x="201304" y="68239"/>
                </a:cubicBezTo>
                <a:cubicBezTo>
                  <a:pt x="201304" y="74636"/>
                  <a:pt x="199556" y="80607"/>
                  <a:pt x="196528" y="85682"/>
                </a:cubicBezTo>
                <a:cubicBezTo>
                  <a:pt x="207489" y="91355"/>
                  <a:pt x="214952" y="102785"/>
                  <a:pt x="214952" y="116006"/>
                </a:cubicBezTo>
                <a:cubicBezTo>
                  <a:pt x="214952" y="127180"/>
                  <a:pt x="209578" y="137075"/>
                  <a:pt x="201304" y="143301"/>
                </a:cubicBezTo>
                <a:cubicBezTo>
                  <a:pt x="205569" y="149016"/>
                  <a:pt x="208128" y="156096"/>
                  <a:pt x="208128" y="163773"/>
                </a:cubicBezTo>
                <a:cubicBezTo>
                  <a:pt x="208128" y="182624"/>
                  <a:pt x="192860" y="197893"/>
                  <a:pt x="174009" y="197893"/>
                </a:cubicBezTo>
                <a:cubicBezTo>
                  <a:pt x="173710" y="197893"/>
                  <a:pt x="173455" y="197893"/>
                  <a:pt x="173156" y="197893"/>
                </a:cubicBezTo>
                <a:cubicBezTo>
                  <a:pt x="170128" y="209664"/>
                  <a:pt x="159423" y="218364"/>
                  <a:pt x="146713" y="218364"/>
                </a:cubicBezTo>
                <a:lnTo>
                  <a:pt x="133066" y="218364"/>
                </a:lnTo>
                <a:cubicBezTo>
                  <a:pt x="125517" y="218364"/>
                  <a:pt x="119418" y="212265"/>
                  <a:pt x="119418" y="204716"/>
                </a:cubicBezTo>
                <a:lnTo>
                  <a:pt x="119418" y="13648"/>
                </a:lnTo>
                <a:cubicBezTo>
                  <a:pt x="119418" y="6099"/>
                  <a:pt x="125517" y="0"/>
                  <a:pt x="133066" y="0"/>
                </a:cubicBezTo>
                <a:lnTo>
                  <a:pt x="143301" y="0"/>
                </a:lnTo>
                <a:cubicBezTo>
                  <a:pt x="156480" y="0"/>
                  <a:pt x="167185" y="10705"/>
                  <a:pt x="167185" y="23884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9" name="Text 16"/>
          <p:cNvSpPr/>
          <p:nvPr/>
        </p:nvSpPr>
        <p:spPr>
          <a:xfrm>
            <a:off x="1317464" y="4425513"/>
            <a:ext cx="90075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9583" y="5044212"/>
            <a:ext cx="3411940" cy="1182806"/>
          </a:xfrm>
          <a:custGeom>
            <a:avLst/>
            <a:gdLst/>
            <a:ahLst/>
            <a:cxnLst/>
            <a:rect l="l" t="t" r="r" b="b"/>
            <a:pathLst>
              <a:path w="3411940" h="1182806">
                <a:moveTo>
                  <a:pt x="109185" y="0"/>
                </a:moveTo>
                <a:lnTo>
                  <a:pt x="3302755" y="0"/>
                </a:lnTo>
                <a:cubicBezTo>
                  <a:pt x="3363057" y="0"/>
                  <a:pt x="3411940" y="48884"/>
                  <a:pt x="3411940" y="109185"/>
                </a:cubicBezTo>
                <a:lnTo>
                  <a:pt x="3411940" y="1073621"/>
                </a:lnTo>
                <a:cubicBezTo>
                  <a:pt x="3411940" y="1133922"/>
                  <a:pt x="3363057" y="1182806"/>
                  <a:pt x="3302755" y="1182806"/>
                </a:cubicBezTo>
                <a:lnTo>
                  <a:pt x="109185" y="1182806"/>
                </a:lnTo>
                <a:cubicBezTo>
                  <a:pt x="48884" y="1182806"/>
                  <a:pt x="0" y="1133922"/>
                  <a:pt x="0" y="1073621"/>
                </a:cubicBezTo>
                <a:lnTo>
                  <a:pt x="0" y="109185"/>
                </a:lnTo>
                <a:cubicBezTo>
                  <a:pt x="0" y="48924"/>
                  <a:pt x="48924" y="0"/>
                  <a:pt x="10918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163170" y="5189788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0" y="42649"/>
                </a:moveTo>
                <a:cubicBezTo>
                  <a:pt x="0" y="28522"/>
                  <a:pt x="11462" y="17060"/>
                  <a:pt x="25590" y="17060"/>
                </a:cubicBezTo>
                <a:lnTo>
                  <a:pt x="76769" y="17060"/>
                </a:lnTo>
                <a:cubicBezTo>
                  <a:pt x="90896" y="17060"/>
                  <a:pt x="102358" y="28522"/>
                  <a:pt x="102358" y="42649"/>
                </a:cubicBezTo>
                <a:lnTo>
                  <a:pt x="102358" y="51179"/>
                </a:lnTo>
                <a:lnTo>
                  <a:pt x="170597" y="51179"/>
                </a:lnTo>
                <a:lnTo>
                  <a:pt x="170597" y="42649"/>
                </a:lnTo>
                <a:cubicBezTo>
                  <a:pt x="170597" y="28522"/>
                  <a:pt x="182059" y="17060"/>
                  <a:pt x="196187" y="17060"/>
                </a:cubicBezTo>
                <a:lnTo>
                  <a:pt x="247366" y="17060"/>
                </a:lnTo>
                <a:cubicBezTo>
                  <a:pt x="261493" y="17060"/>
                  <a:pt x="272955" y="28522"/>
                  <a:pt x="272955" y="42649"/>
                </a:cubicBezTo>
                <a:lnTo>
                  <a:pt x="272955" y="93828"/>
                </a:lnTo>
                <a:cubicBezTo>
                  <a:pt x="272955" y="107956"/>
                  <a:pt x="261493" y="119418"/>
                  <a:pt x="247366" y="119418"/>
                </a:cubicBezTo>
                <a:lnTo>
                  <a:pt x="196187" y="119418"/>
                </a:lnTo>
                <a:cubicBezTo>
                  <a:pt x="182059" y="119418"/>
                  <a:pt x="170597" y="107956"/>
                  <a:pt x="170597" y="93828"/>
                </a:cubicBezTo>
                <a:lnTo>
                  <a:pt x="170597" y="85299"/>
                </a:lnTo>
                <a:lnTo>
                  <a:pt x="102358" y="85299"/>
                </a:lnTo>
                <a:lnTo>
                  <a:pt x="102358" y="93828"/>
                </a:lnTo>
                <a:cubicBezTo>
                  <a:pt x="102358" y="97720"/>
                  <a:pt x="101452" y="101452"/>
                  <a:pt x="99906" y="104757"/>
                </a:cubicBezTo>
                <a:lnTo>
                  <a:pt x="136478" y="153537"/>
                </a:lnTo>
                <a:lnTo>
                  <a:pt x="179127" y="153537"/>
                </a:lnTo>
                <a:cubicBezTo>
                  <a:pt x="193254" y="153537"/>
                  <a:pt x="204716" y="164999"/>
                  <a:pt x="204716" y="179127"/>
                </a:cubicBezTo>
                <a:lnTo>
                  <a:pt x="204716" y="230306"/>
                </a:lnTo>
                <a:cubicBezTo>
                  <a:pt x="204716" y="244434"/>
                  <a:pt x="193254" y="255896"/>
                  <a:pt x="179127" y="255896"/>
                </a:cubicBezTo>
                <a:lnTo>
                  <a:pt x="127948" y="255896"/>
                </a:lnTo>
                <a:cubicBezTo>
                  <a:pt x="113820" y="255896"/>
                  <a:pt x="102358" y="244434"/>
                  <a:pt x="102358" y="230306"/>
                </a:cubicBezTo>
                <a:lnTo>
                  <a:pt x="102358" y="179127"/>
                </a:lnTo>
                <a:cubicBezTo>
                  <a:pt x="102358" y="175235"/>
                  <a:pt x="103265" y="171503"/>
                  <a:pt x="104811" y="168198"/>
                </a:cubicBezTo>
                <a:lnTo>
                  <a:pt x="68239" y="119418"/>
                </a:lnTo>
                <a:lnTo>
                  <a:pt x="25590" y="119418"/>
                </a:lnTo>
                <a:cubicBezTo>
                  <a:pt x="11462" y="119418"/>
                  <a:pt x="0" y="107956"/>
                  <a:pt x="0" y="93828"/>
                </a:cubicBezTo>
                <a:lnTo>
                  <a:pt x="0" y="42649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2" name="Text 19"/>
          <p:cNvSpPr/>
          <p:nvPr/>
        </p:nvSpPr>
        <p:spPr>
          <a:xfrm>
            <a:off x="694216" y="5571925"/>
            <a:ext cx="320267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Простая CNN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8765" y="5863077"/>
            <a:ext cx="3193576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Convolutional Neural Network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150853" y="5044212"/>
            <a:ext cx="3411940" cy="1182806"/>
          </a:xfrm>
          <a:custGeom>
            <a:avLst/>
            <a:gdLst/>
            <a:ahLst/>
            <a:cxnLst/>
            <a:rect l="l" t="t" r="r" b="b"/>
            <a:pathLst>
              <a:path w="3411940" h="1182806">
                <a:moveTo>
                  <a:pt x="109185" y="0"/>
                </a:moveTo>
                <a:lnTo>
                  <a:pt x="3302755" y="0"/>
                </a:lnTo>
                <a:cubicBezTo>
                  <a:pt x="3363057" y="0"/>
                  <a:pt x="3411940" y="48884"/>
                  <a:pt x="3411940" y="109185"/>
                </a:cubicBezTo>
                <a:lnTo>
                  <a:pt x="3411940" y="1073621"/>
                </a:lnTo>
                <a:cubicBezTo>
                  <a:pt x="3411940" y="1133922"/>
                  <a:pt x="3363057" y="1182806"/>
                  <a:pt x="3302755" y="1182806"/>
                </a:cubicBezTo>
                <a:lnTo>
                  <a:pt x="109185" y="1182806"/>
                </a:lnTo>
                <a:cubicBezTo>
                  <a:pt x="48884" y="1182806"/>
                  <a:pt x="0" y="1133922"/>
                  <a:pt x="0" y="1073621"/>
                </a:cubicBezTo>
                <a:lnTo>
                  <a:pt x="0" y="109185"/>
                </a:lnTo>
                <a:cubicBezTo>
                  <a:pt x="0" y="48924"/>
                  <a:pt x="48924" y="0"/>
                  <a:pt x="10918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690434" y="5189788"/>
            <a:ext cx="341194" cy="272955"/>
          </a:xfrm>
          <a:custGeom>
            <a:avLst/>
            <a:gdLst/>
            <a:ahLst/>
            <a:cxnLst/>
            <a:rect l="l" t="t" r="r" b="b"/>
            <a:pathLst>
              <a:path w="341194" h="272955">
                <a:moveTo>
                  <a:pt x="204716" y="17060"/>
                </a:moveTo>
                <a:lnTo>
                  <a:pt x="272955" y="17060"/>
                </a:lnTo>
                <a:cubicBezTo>
                  <a:pt x="282391" y="17060"/>
                  <a:pt x="290015" y="24683"/>
                  <a:pt x="290015" y="34119"/>
                </a:cubicBezTo>
                <a:cubicBezTo>
                  <a:pt x="290015" y="43556"/>
                  <a:pt x="282391" y="51179"/>
                  <a:pt x="272955" y="51179"/>
                </a:cubicBezTo>
                <a:lnTo>
                  <a:pt x="212393" y="51179"/>
                </a:lnTo>
                <a:cubicBezTo>
                  <a:pt x="209621" y="64933"/>
                  <a:pt x="200185" y="76289"/>
                  <a:pt x="187657" y="81727"/>
                </a:cubicBezTo>
                <a:lnTo>
                  <a:pt x="187657" y="238836"/>
                </a:lnTo>
                <a:lnTo>
                  <a:pt x="272955" y="238836"/>
                </a:lnTo>
                <a:cubicBezTo>
                  <a:pt x="282391" y="238836"/>
                  <a:pt x="290015" y="246459"/>
                  <a:pt x="290015" y="255896"/>
                </a:cubicBezTo>
                <a:cubicBezTo>
                  <a:pt x="290015" y="265332"/>
                  <a:pt x="282391" y="272955"/>
                  <a:pt x="272955" y="272955"/>
                </a:cubicBezTo>
                <a:lnTo>
                  <a:pt x="68239" y="272955"/>
                </a:lnTo>
                <a:cubicBezTo>
                  <a:pt x="58803" y="272955"/>
                  <a:pt x="51179" y="265332"/>
                  <a:pt x="51179" y="255896"/>
                </a:cubicBezTo>
                <a:cubicBezTo>
                  <a:pt x="51179" y="246459"/>
                  <a:pt x="58803" y="238836"/>
                  <a:pt x="68239" y="238836"/>
                </a:cubicBezTo>
                <a:lnTo>
                  <a:pt x="153537" y="238836"/>
                </a:lnTo>
                <a:lnTo>
                  <a:pt x="153537" y="81727"/>
                </a:lnTo>
                <a:cubicBezTo>
                  <a:pt x="141009" y="76236"/>
                  <a:pt x="131573" y="64880"/>
                  <a:pt x="128801" y="51179"/>
                </a:cubicBezTo>
                <a:lnTo>
                  <a:pt x="68239" y="51179"/>
                </a:lnTo>
                <a:cubicBezTo>
                  <a:pt x="58803" y="51179"/>
                  <a:pt x="51179" y="43556"/>
                  <a:pt x="51179" y="34119"/>
                </a:cubicBezTo>
                <a:cubicBezTo>
                  <a:pt x="51179" y="24683"/>
                  <a:pt x="58803" y="17060"/>
                  <a:pt x="68239" y="17060"/>
                </a:cubicBezTo>
                <a:lnTo>
                  <a:pt x="136478" y="17060"/>
                </a:lnTo>
                <a:cubicBezTo>
                  <a:pt x="144261" y="6717"/>
                  <a:pt x="156629" y="0"/>
                  <a:pt x="170597" y="0"/>
                </a:cubicBezTo>
                <a:cubicBezTo>
                  <a:pt x="184565" y="0"/>
                  <a:pt x="196933" y="6717"/>
                  <a:pt x="204716" y="17060"/>
                </a:cubicBezTo>
                <a:close/>
                <a:moveTo>
                  <a:pt x="234358" y="170597"/>
                </a:moveTo>
                <a:lnTo>
                  <a:pt x="311553" y="170597"/>
                </a:lnTo>
                <a:lnTo>
                  <a:pt x="272955" y="104384"/>
                </a:lnTo>
                <a:lnTo>
                  <a:pt x="234358" y="170597"/>
                </a:lnTo>
                <a:close/>
                <a:moveTo>
                  <a:pt x="272955" y="221776"/>
                </a:moveTo>
                <a:cubicBezTo>
                  <a:pt x="239422" y="221776"/>
                  <a:pt x="211540" y="203650"/>
                  <a:pt x="205783" y="179713"/>
                </a:cubicBezTo>
                <a:cubicBezTo>
                  <a:pt x="204397" y="173849"/>
                  <a:pt x="206316" y="167825"/>
                  <a:pt x="209355" y="162600"/>
                </a:cubicBezTo>
                <a:lnTo>
                  <a:pt x="260107" y="75596"/>
                </a:lnTo>
                <a:cubicBezTo>
                  <a:pt x="262773" y="71011"/>
                  <a:pt x="267677" y="68239"/>
                  <a:pt x="272955" y="68239"/>
                </a:cubicBezTo>
                <a:cubicBezTo>
                  <a:pt x="278233" y="68239"/>
                  <a:pt x="283138" y="71064"/>
                  <a:pt x="285803" y="75596"/>
                </a:cubicBezTo>
                <a:lnTo>
                  <a:pt x="336556" y="162600"/>
                </a:lnTo>
                <a:cubicBezTo>
                  <a:pt x="339595" y="167825"/>
                  <a:pt x="341514" y="173849"/>
                  <a:pt x="340128" y="179713"/>
                </a:cubicBezTo>
                <a:cubicBezTo>
                  <a:pt x="334370" y="203597"/>
                  <a:pt x="306488" y="221776"/>
                  <a:pt x="272955" y="221776"/>
                </a:cubicBezTo>
                <a:close/>
                <a:moveTo>
                  <a:pt x="67599" y="104384"/>
                </a:moveTo>
                <a:lnTo>
                  <a:pt x="29001" y="170597"/>
                </a:lnTo>
                <a:lnTo>
                  <a:pt x="106250" y="170597"/>
                </a:lnTo>
                <a:lnTo>
                  <a:pt x="67599" y="104384"/>
                </a:lnTo>
                <a:close/>
                <a:moveTo>
                  <a:pt x="480" y="179713"/>
                </a:moveTo>
                <a:cubicBezTo>
                  <a:pt x="-906" y="173849"/>
                  <a:pt x="1013" y="167825"/>
                  <a:pt x="4052" y="162600"/>
                </a:cubicBezTo>
                <a:lnTo>
                  <a:pt x="54804" y="75596"/>
                </a:lnTo>
                <a:cubicBezTo>
                  <a:pt x="57470" y="71011"/>
                  <a:pt x="62375" y="68239"/>
                  <a:pt x="67652" y="68239"/>
                </a:cubicBezTo>
                <a:cubicBezTo>
                  <a:pt x="72930" y="68239"/>
                  <a:pt x="77835" y="71064"/>
                  <a:pt x="80500" y="75596"/>
                </a:cubicBezTo>
                <a:lnTo>
                  <a:pt x="131253" y="162600"/>
                </a:lnTo>
                <a:cubicBezTo>
                  <a:pt x="134292" y="167825"/>
                  <a:pt x="136211" y="173849"/>
                  <a:pt x="134825" y="179713"/>
                </a:cubicBezTo>
                <a:cubicBezTo>
                  <a:pt x="129067" y="203597"/>
                  <a:pt x="101185" y="221776"/>
                  <a:pt x="67652" y="221776"/>
                </a:cubicBezTo>
                <a:cubicBezTo>
                  <a:pt x="34119" y="221776"/>
                  <a:pt x="6237" y="203650"/>
                  <a:pt x="480" y="17971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6" name="Text 23"/>
          <p:cNvSpPr/>
          <p:nvPr/>
        </p:nvSpPr>
        <p:spPr>
          <a:xfrm>
            <a:off x="4255486" y="5571925"/>
            <a:ext cx="320267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Baseline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260035" y="5863077"/>
            <a:ext cx="3193576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Классические алгоритмы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017946" y="1353858"/>
            <a:ext cx="3808635" cy="2416564"/>
          </a:xfrm>
          <a:custGeom>
            <a:avLst/>
            <a:gdLst/>
            <a:ahLst/>
            <a:cxnLst/>
            <a:rect l="l" t="t" r="r" b="b"/>
            <a:pathLst>
              <a:path w="3808635" h="2416564">
                <a:moveTo>
                  <a:pt x="145574" y="0"/>
                </a:moveTo>
                <a:lnTo>
                  <a:pt x="3663061" y="0"/>
                </a:lnTo>
                <a:cubicBezTo>
                  <a:pt x="3743460" y="0"/>
                  <a:pt x="3808635" y="65176"/>
                  <a:pt x="3808635" y="145574"/>
                </a:cubicBezTo>
                <a:lnTo>
                  <a:pt x="3808635" y="2270990"/>
                </a:lnTo>
                <a:cubicBezTo>
                  <a:pt x="3808635" y="2351388"/>
                  <a:pt x="3743460" y="2416564"/>
                  <a:pt x="3663061" y="2416564"/>
                </a:cubicBezTo>
                <a:lnTo>
                  <a:pt x="145574" y="2416564"/>
                </a:lnTo>
                <a:cubicBezTo>
                  <a:pt x="65176" y="2416564"/>
                  <a:pt x="0" y="2351388"/>
                  <a:pt x="0" y="2270990"/>
                </a:cubicBezTo>
                <a:lnTo>
                  <a:pt x="0" y="145574"/>
                </a:lnTo>
                <a:cubicBezTo>
                  <a:pt x="0" y="65176"/>
                  <a:pt x="65176" y="0"/>
                  <a:pt x="14557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2032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43589" y="1579502"/>
            <a:ext cx="582304" cy="582304"/>
          </a:xfrm>
          <a:custGeom>
            <a:avLst/>
            <a:gdLst/>
            <a:ahLst/>
            <a:cxnLst/>
            <a:rect l="l" t="t" r="r" b="b"/>
            <a:pathLst>
              <a:path w="582304" h="582304">
                <a:moveTo>
                  <a:pt x="145576" y="0"/>
                </a:moveTo>
                <a:lnTo>
                  <a:pt x="436728" y="0"/>
                </a:lnTo>
                <a:cubicBezTo>
                  <a:pt x="517074" y="0"/>
                  <a:pt x="582304" y="65230"/>
                  <a:pt x="582304" y="145576"/>
                </a:cubicBezTo>
                <a:lnTo>
                  <a:pt x="582304" y="436728"/>
                </a:lnTo>
                <a:cubicBezTo>
                  <a:pt x="582304" y="517074"/>
                  <a:pt x="517074" y="582304"/>
                  <a:pt x="436728" y="582304"/>
                </a:cubicBezTo>
                <a:lnTo>
                  <a:pt x="145576" y="582304"/>
                </a:lnTo>
                <a:cubicBezTo>
                  <a:pt x="65230" y="582304"/>
                  <a:pt x="0" y="517074"/>
                  <a:pt x="0" y="436728"/>
                </a:cubicBezTo>
                <a:lnTo>
                  <a:pt x="0" y="145576"/>
                </a:lnTo>
                <a:cubicBezTo>
                  <a:pt x="0" y="65230"/>
                  <a:pt x="65230" y="0"/>
                  <a:pt x="145576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425559" y="1761472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191069" y="109182"/>
                </a:moveTo>
                <a:cubicBezTo>
                  <a:pt x="191069" y="63988"/>
                  <a:pt x="154377" y="27296"/>
                  <a:pt x="109182" y="27296"/>
                </a:cubicBezTo>
                <a:cubicBezTo>
                  <a:pt x="63988" y="27296"/>
                  <a:pt x="27296" y="63988"/>
                  <a:pt x="27296" y="109182"/>
                </a:cubicBezTo>
                <a:cubicBezTo>
                  <a:pt x="27296" y="154377"/>
                  <a:pt x="63988" y="191069"/>
                  <a:pt x="109182" y="191069"/>
                </a:cubicBezTo>
                <a:cubicBezTo>
                  <a:pt x="154377" y="191069"/>
                  <a:pt x="191069" y="154377"/>
                  <a:pt x="191069" y="109182"/>
                </a:cubicBezTo>
                <a:close/>
                <a:moveTo>
                  <a:pt x="0" y="109182"/>
                </a:moveTo>
                <a:cubicBezTo>
                  <a:pt x="0" y="48923"/>
                  <a:pt x="48923" y="0"/>
                  <a:pt x="109182" y="0"/>
                </a:cubicBezTo>
                <a:cubicBezTo>
                  <a:pt x="169441" y="0"/>
                  <a:pt x="218364" y="48923"/>
                  <a:pt x="218364" y="109182"/>
                </a:cubicBezTo>
                <a:cubicBezTo>
                  <a:pt x="218364" y="169441"/>
                  <a:pt x="169441" y="218364"/>
                  <a:pt x="109182" y="218364"/>
                </a:cubicBezTo>
                <a:cubicBezTo>
                  <a:pt x="48923" y="218364"/>
                  <a:pt x="0" y="169441"/>
                  <a:pt x="0" y="109182"/>
                </a:cubicBezTo>
                <a:close/>
                <a:moveTo>
                  <a:pt x="109182" y="143301"/>
                </a:moveTo>
                <a:cubicBezTo>
                  <a:pt x="128013" y="143301"/>
                  <a:pt x="143301" y="128013"/>
                  <a:pt x="143301" y="109182"/>
                </a:cubicBezTo>
                <a:cubicBezTo>
                  <a:pt x="143301" y="90351"/>
                  <a:pt x="128013" y="75063"/>
                  <a:pt x="109182" y="75063"/>
                </a:cubicBezTo>
                <a:cubicBezTo>
                  <a:pt x="90351" y="75063"/>
                  <a:pt x="75063" y="90351"/>
                  <a:pt x="75063" y="109182"/>
                </a:cubicBezTo>
                <a:cubicBezTo>
                  <a:pt x="75063" y="128013"/>
                  <a:pt x="90351" y="143301"/>
                  <a:pt x="109182" y="143301"/>
                </a:cubicBezTo>
                <a:close/>
                <a:moveTo>
                  <a:pt x="109182" y="47767"/>
                </a:moveTo>
                <a:cubicBezTo>
                  <a:pt x="143078" y="47767"/>
                  <a:pt x="170597" y="75286"/>
                  <a:pt x="170597" y="109182"/>
                </a:cubicBezTo>
                <a:cubicBezTo>
                  <a:pt x="170597" y="143078"/>
                  <a:pt x="143078" y="170597"/>
                  <a:pt x="109182" y="170597"/>
                </a:cubicBezTo>
                <a:cubicBezTo>
                  <a:pt x="75286" y="170597"/>
                  <a:pt x="47767" y="143078"/>
                  <a:pt x="47767" y="109182"/>
                </a:cubicBezTo>
                <a:cubicBezTo>
                  <a:pt x="47767" y="75286"/>
                  <a:pt x="75286" y="47767"/>
                  <a:pt x="109182" y="47767"/>
                </a:cubicBezTo>
                <a:close/>
                <a:moveTo>
                  <a:pt x="95534" y="109182"/>
                </a:moveTo>
                <a:cubicBezTo>
                  <a:pt x="95534" y="101650"/>
                  <a:pt x="101650" y="95534"/>
                  <a:pt x="109182" y="95534"/>
                </a:cubicBezTo>
                <a:cubicBezTo>
                  <a:pt x="116714" y="95534"/>
                  <a:pt x="122830" y="101650"/>
                  <a:pt x="122830" y="109182"/>
                </a:cubicBezTo>
                <a:cubicBezTo>
                  <a:pt x="122830" y="116714"/>
                  <a:pt x="116714" y="122830"/>
                  <a:pt x="109182" y="122830"/>
                </a:cubicBezTo>
                <a:cubicBezTo>
                  <a:pt x="101650" y="122830"/>
                  <a:pt x="95534" y="116714"/>
                  <a:pt x="95534" y="109182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Text 28"/>
          <p:cNvSpPr/>
          <p:nvPr/>
        </p:nvSpPr>
        <p:spPr>
          <a:xfrm>
            <a:off x="8971470" y="1725078"/>
            <a:ext cx="81886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Задача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243589" y="2343776"/>
            <a:ext cx="3357349" cy="1201003"/>
          </a:xfrm>
          <a:custGeom>
            <a:avLst/>
            <a:gdLst/>
            <a:ahLst/>
            <a:cxnLst/>
            <a:rect l="l" t="t" r="r" b="b"/>
            <a:pathLst>
              <a:path w="3357349" h="1201003">
                <a:moveTo>
                  <a:pt x="109183" y="0"/>
                </a:moveTo>
                <a:lnTo>
                  <a:pt x="3248166" y="0"/>
                </a:lnTo>
                <a:cubicBezTo>
                  <a:pt x="3308466" y="0"/>
                  <a:pt x="3357349" y="48883"/>
                  <a:pt x="3357349" y="109183"/>
                </a:cubicBezTo>
                <a:lnTo>
                  <a:pt x="3357349" y="1091820"/>
                </a:lnTo>
                <a:cubicBezTo>
                  <a:pt x="3357349" y="1152120"/>
                  <a:pt x="3308466" y="1201003"/>
                  <a:pt x="3248166" y="1201003"/>
                </a:cubicBezTo>
                <a:lnTo>
                  <a:pt x="109183" y="1201003"/>
                </a:lnTo>
                <a:cubicBezTo>
                  <a:pt x="48883" y="1201003"/>
                  <a:pt x="0" y="1152120"/>
                  <a:pt x="0" y="1091820"/>
                </a:cubicBezTo>
                <a:lnTo>
                  <a:pt x="0" y="109183"/>
                </a:lnTo>
                <a:cubicBezTo>
                  <a:pt x="0" y="48883"/>
                  <a:pt x="48883" y="0"/>
                  <a:pt x="1091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425559" y="2525747"/>
            <a:ext cx="308439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Классификация ритмов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425559" y="2889687"/>
            <a:ext cx="3066197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Определение типа сердечного ритма на основе входного сигнала ЭКГ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017946" y="3868686"/>
            <a:ext cx="3808635" cy="2889686"/>
          </a:xfrm>
          <a:custGeom>
            <a:avLst/>
            <a:gdLst/>
            <a:ahLst/>
            <a:cxnLst/>
            <a:rect l="l" t="t" r="r" b="b"/>
            <a:pathLst>
              <a:path w="3808635" h="2889686">
                <a:moveTo>
                  <a:pt x="145582" y="0"/>
                </a:moveTo>
                <a:lnTo>
                  <a:pt x="3663053" y="0"/>
                </a:lnTo>
                <a:cubicBezTo>
                  <a:pt x="3743456" y="0"/>
                  <a:pt x="3808635" y="65179"/>
                  <a:pt x="3808635" y="145582"/>
                </a:cubicBezTo>
                <a:lnTo>
                  <a:pt x="3808635" y="2744104"/>
                </a:lnTo>
                <a:cubicBezTo>
                  <a:pt x="3808635" y="2824453"/>
                  <a:pt x="3743402" y="2889686"/>
                  <a:pt x="3663053" y="2889686"/>
                </a:cubicBezTo>
                <a:lnTo>
                  <a:pt x="145582" y="2889686"/>
                </a:lnTo>
                <a:cubicBezTo>
                  <a:pt x="65179" y="2889686"/>
                  <a:pt x="0" y="2824507"/>
                  <a:pt x="0" y="2744104"/>
                </a:cubicBezTo>
                <a:lnTo>
                  <a:pt x="0" y="145582"/>
                </a:lnTo>
                <a:cubicBezTo>
                  <a:pt x="0" y="65179"/>
                  <a:pt x="65179" y="0"/>
                  <a:pt x="1455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F43F5E">
                  <a:alpha val="5000"/>
                </a:srgbClr>
              </a:gs>
            </a:gsLst>
            <a:lin ang="2700000" scaled="1"/>
          </a:gradFill>
          <a:ln w="2032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43589" y="4094330"/>
            <a:ext cx="582304" cy="582304"/>
          </a:xfrm>
          <a:custGeom>
            <a:avLst/>
            <a:gdLst/>
            <a:ahLst/>
            <a:cxnLst/>
            <a:rect l="l" t="t" r="r" b="b"/>
            <a:pathLst>
              <a:path w="582304" h="582304">
                <a:moveTo>
                  <a:pt x="145576" y="0"/>
                </a:moveTo>
                <a:lnTo>
                  <a:pt x="436728" y="0"/>
                </a:lnTo>
                <a:cubicBezTo>
                  <a:pt x="517074" y="0"/>
                  <a:pt x="582304" y="65230"/>
                  <a:pt x="582304" y="145576"/>
                </a:cubicBezTo>
                <a:lnTo>
                  <a:pt x="582304" y="436728"/>
                </a:lnTo>
                <a:cubicBezTo>
                  <a:pt x="582304" y="517074"/>
                  <a:pt x="517074" y="582304"/>
                  <a:pt x="436728" y="582304"/>
                </a:cubicBezTo>
                <a:lnTo>
                  <a:pt x="145576" y="582304"/>
                </a:lnTo>
                <a:cubicBezTo>
                  <a:pt x="65230" y="582304"/>
                  <a:pt x="0" y="517074"/>
                  <a:pt x="0" y="436728"/>
                </a:cubicBezTo>
                <a:lnTo>
                  <a:pt x="0" y="145576"/>
                </a:lnTo>
                <a:cubicBezTo>
                  <a:pt x="0" y="65230"/>
                  <a:pt x="65230" y="0"/>
                  <a:pt x="145576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37" name="Shape 34"/>
          <p:cNvSpPr/>
          <p:nvPr/>
        </p:nvSpPr>
        <p:spPr>
          <a:xfrm>
            <a:off x="8411912" y="4276300"/>
            <a:ext cx="245660" cy="218364"/>
          </a:xfrm>
          <a:custGeom>
            <a:avLst/>
            <a:gdLst/>
            <a:ahLst/>
            <a:cxnLst/>
            <a:rect l="l" t="t" r="r" b="b"/>
            <a:pathLst>
              <a:path w="245660" h="218364">
                <a:moveTo>
                  <a:pt x="218535" y="102358"/>
                </a:moveTo>
                <a:lnTo>
                  <a:pt x="143472" y="102358"/>
                </a:lnTo>
                <a:cubicBezTo>
                  <a:pt x="135923" y="102358"/>
                  <a:pt x="129824" y="96259"/>
                  <a:pt x="129824" y="88710"/>
                </a:cubicBezTo>
                <a:lnTo>
                  <a:pt x="129824" y="13648"/>
                </a:lnTo>
                <a:cubicBezTo>
                  <a:pt x="129824" y="6099"/>
                  <a:pt x="135966" y="-85"/>
                  <a:pt x="143429" y="896"/>
                </a:cubicBezTo>
                <a:cubicBezTo>
                  <a:pt x="189064" y="6952"/>
                  <a:pt x="225231" y="43118"/>
                  <a:pt x="231287" y="88753"/>
                </a:cubicBezTo>
                <a:cubicBezTo>
                  <a:pt x="232268" y="96217"/>
                  <a:pt x="226084" y="102358"/>
                  <a:pt x="218535" y="102358"/>
                </a:cubicBezTo>
                <a:close/>
                <a:moveTo>
                  <a:pt x="94937" y="15866"/>
                </a:moveTo>
                <a:cubicBezTo>
                  <a:pt x="102657" y="14245"/>
                  <a:pt x="109353" y="20557"/>
                  <a:pt x="109353" y="28447"/>
                </a:cubicBezTo>
                <a:lnTo>
                  <a:pt x="109353" y="112594"/>
                </a:lnTo>
                <a:cubicBezTo>
                  <a:pt x="109353" y="114982"/>
                  <a:pt x="110206" y="117285"/>
                  <a:pt x="111698" y="119119"/>
                </a:cubicBezTo>
                <a:lnTo>
                  <a:pt x="168038" y="187102"/>
                </a:lnTo>
                <a:cubicBezTo>
                  <a:pt x="173028" y="193116"/>
                  <a:pt x="171962" y="202200"/>
                  <a:pt x="165095" y="205911"/>
                </a:cubicBezTo>
                <a:cubicBezTo>
                  <a:pt x="150552" y="213843"/>
                  <a:pt x="133876" y="218364"/>
                  <a:pt x="116177" y="218364"/>
                </a:cubicBezTo>
                <a:cubicBezTo>
                  <a:pt x="59666" y="218364"/>
                  <a:pt x="13818" y="172516"/>
                  <a:pt x="13818" y="116006"/>
                </a:cubicBezTo>
                <a:cubicBezTo>
                  <a:pt x="13818" y="66746"/>
                  <a:pt x="48578" y="25632"/>
                  <a:pt x="94937" y="15866"/>
                </a:cubicBezTo>
                <a:close/>
                <a:moveTo>
                  <a:pt x="203778" y="122830"/>
                </a:moveTo>
                <a:lnTo>
                  <a:pt x="231074" y="122830"/>
                </a:lnTo>
                <a:cubicBezTo>
                  <a:pt x="238964" y="122830"/>
                  <a:pt x="245276" y="129526"/>
                  <a:pt x="243655" y="137245"/>
                </a:cubicBezTo>
                <a:cubicBezTo>
                  <a:pt x="239305" y="157888"/>
                  <a:pt x="228728" y="176227"/>
                  <a:pt x="213971" y="190216"/>
                </a:cubicBezTo>
                <a:cubicBezTo>
                  <a:pt x="208725" y="195206"/>
                  <a:pt x="200494" y="194139"/>
                  <a:pt x="195888" y="188552"/>
                </a:cubicBezTo>
                <a:lnTo>
                  <a:pt x="159892" y="145178"/>
                </a:lnTo>
                <a:cubicBezTo>
                  <a:pt x="152514" y="136264"/>
                  <a:pt x="158868" y="122830"/>
                  <a:pt x="170384" y="122830"/>
                </a:cubicBezTo>
                <a:lnTo>
                  <a:pt x="203735" y="1228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971470" y="4239906"/>
            <a:ext cx="1892490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Целевые метрики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43589" y="4858605"/>
            <a:ext cx="3357349" cy="764275"/>
          </a:xfrm>
          <a:custGeom>
            <a:avLst/>
            <a:gdLst/>
            <a:ahLst/>
            <a:cxnLst/>
            <a:rect l="l" t="t" r="r" b="b"/>
            <a:pathLst>
              <a:path w="3357349" h="764275">
                <a:moveTo>
                  <a:pt x="109184" y="0"/>
                </a:moveTo>
                <a:lnTo>
                  <a:pt x="3248165" y="0"/>
                </a:lnTo>
                <a:cubicBezTo>
                  <a:pt x="3308466" y="0"/>
                  <a:pt x="3357349" y="48883"/>
                  <a:pt x="3357349" y="109184"/>
                </a:cubicBezTo>
                <a:lnTo>
                  <a:pt x="3357349" y="655090"/>
                </a:lnTo>
                <a:cubicBezTo>
                  <a:pt x="3357349" y="715391"/>
                  <a:pt x="3308466" y="764275"/>
                  <a:pt x="3248165" y="764275"/>
                </a:cubicBezTo>
                <a:lnTo>
                  <a:pt x="109184" y="764275"/>
                </a:lnTo>
                <a:cubicBezTo>
                  <a:pt x="48883" y="764275"/>
                  <a:pt x="0" y="715391"/>
                  <a:pt x="0" y="655090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389165" y="5022262"/>
            <a:ext cx="76427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856908" y="5004181"/>
            <a:ext cx="709684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85%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89165" y="5368005"/>
            <a:ext cx="3066197" cy="109182"/>
          </a:xfrm>
          <a:custGeom>
            <a:avLst/>
            <a:gdLst/>
            <a:ahLst/>
            <a:cxnLst/>
            <a:rect l="l" t="t" r="r" b="b"/>
            <a:pathLst>
              <a:path w="3066197" h="109182">
                <a:moveTo>
                  <a:pt x="54591" y="0"/>
                </a:moveTo>
                <a:lnTo>
                  <a:pt x="3011606" y="0"/>
                </a:lnTo>
                <a:cubicBezTo>
                  <a:pt x="3041756" y="0"/>
                  <a:pt x="3066197" y="24441"/>
                  <a:pt x="3066197" y="54591"/>
                </a:cubicBezTo>
                <a:lnTo>
                  <a:pt x="3066197" y="54591"/>
                </a:lnTo>
                <a:cubicBezTo>
                  <a:pt x="3066197" y="84741"/>
                  <a:pt x="3041756" y="109182"/>
                  <a:pt x="3011606" y="109182"/>
                </a:cubicBezTo>
                <a:lnTo>
                  <a:pt x="54591" y="109182"/>
                </a:lnTo>
                <a:cubicBezTo>
                  <a:pt x="24461" y="109182"/>
                  <a:pt x="0" y="84721"/>
                  <a:pt x="0" y="54591"/>
                </a:cubicBezTo>
                <a:lnTo>
                  <a:pt x="0" y="54591"/>
                </a:lnTo>
                <a:cubicBezTo>
                  <a:pt x="0" y="24461"/>
                  <a:pt x="24461" y="0"/>
                  <a:pt x="54591" y="0"/>
                </a:cubicBezTo>
                <a:close/>
              </a:path>
            </a:pathLst>
          </a:custGeom>
          <a:solidFill>
            <a:srgbClr val="475569">
              <a:alpha val="30196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8389165" y="5368005"/>
            <a:ext cx="2602173" cy="109182"/>
          </a:xfrm>
          <a:custGeom>
            <a:avLst/>
            <a:gdLst/>
            <a:ahLst/>
            <a:cxnLst/>
            <a:rect l="l" t="t" r="r" b="b"/>
            <a:pathLst>
              <a:path w="2602173" h="109182">
                <a:moveTo>
                  <a:pt x="54591" y="0"/>
                </a:moveTo>
                <a:lnTo>
                  <a:pt x="2547582" y="0"/>
                </a:lnTo>
                <a:cubicBezTo>
                  <a:pt x="2577732" y="0"/>
                  <a:pt x="2602173" y="24441"/>
                  <a:pt x="2602173" y="54591"/>
                </a:cubicBezTo>
                <a:lnTo>
                  <a:pt x="2602173" y="54591"/>
                </a:lnTo>
                <a:cubicBezTo>
                  <a:pt x="2602173" y="84741"/>
                  <a:pt x="2577732" y="109182"/>
                  <a:pt x="2547582" y="109182"/>
                </a:cubicBezTo>
                <a:lnTo>
                  <a:pt x="54591" y="109182"/>
                </a:lnTo>
                <a:cubicBezTo>
                  <a:pt x="24461" y="109182"/>
                  <a:pt x="0" y="84721"/>
                  <a:pt x="0" y="54591"/>
                </a:cubicBezTo>
                <a:lnTo>
                  <a:pt x="0" y="54591"/>
                </a:lnTo>
                <a:cubicBezTo>
                  <a:pt x="0" y="24461"/>
                  <a:pt x="24461" y="0"/>
                  <a:pt x="545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/>
              </a:gs>
              <a:gs pos="100000">
                <a:srgbClr val="38BDF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4" name="Shape 41"/>
          <p:cNvSpPr/>
          <p:nvPr/>
        </p:nvSpPr>
        <p:spPr>
          <a:xfrm>
            <a:off x="8243589" y="5768340"/>
            <a:ext cx="3357349" cy="764275"/>
          </a:xfrm>
          <a:custGeom>
            <a:avLst/>
            <a:gdLst/>
            <a:ahLst/>
            <a:cxnLst/>
            <a:rect l="l" t="t" r="r" b="b"/>
            <a:pathLst>
              <a:path w="3357349" h="764275">
                <a:moveTo>
                  <a:pt x="109184" y="0"/>
                </a:moveTo>
                <a:lnTo>
                  <a:pt x="3248165" y="0"/>
                </a:lnTo>
                <a:cubicBezTo>
                  <a:pt x="3308466" y="0"/>
                  <a:pt x="3357349" y="48883"/>
                  <a:pt x="3357349" y="109184"/>
                </a:cubicBezTo>
                <a:lnTo>
                  <a:pt x="3357349" y="655090"/>
                </a:lnTo>
                <a:cubicBezTo>
                  <a:pt x="3357349" y="715391"/>
                  <a:pt x="3308466" y="764275"/>
                  <a:pt x="3248165" y="764275"/>
                </a:cubicBezTo>
                <a:lnTo>
                  <a:pt x="109184" y="764275"/>
                </a:lnTo>
                <a:cubicBezTo>
                  <a:pt x="48883" y="764275"/>
                  <a:pt x="0" y="715391"/>
                  <a:pt x="0" y="655090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8389165" y="5931997"/>
            <a:ext cx="69148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Score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826996" y="5913916"/>
            <a:ext cx="73697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0.80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389165" y="6277741"/>
            <a:ext cx="3066197" cy="109182"/>
          </a:xfrm>
          <a:custGeom>
            <a:avLst/>
            <a:gdLst/>
            <a:ahLst/>
            <a:cxnLst/>
            <a:rect l="l" t="t" r="r" b="b"/>
            <a:pathLst>
              <a:path w="3066197" h="109182">
                <a:moveTo>
                  <a:pt x="54591" y="0"/>
                </a:moveTo>
                <a:lnTo>
                  <a:pt x="3011606" y="0"/>
                </a:lnTo>
                <a:cubicBezTo>
                  <a:pt x="3041756" y="0"/>
                  <a:pt x="3066197" y="24441"/>
                  <a:pt x="3066197" y="54591"/>
                </a:cubicBezTo>
                <a:lnTo>
                  <a:pt x="3066197" y="54591"/>
                </a:lnTo>
                <a:cubicBezTo>
                  <a:pt x="3066197" y="84741"/>
                  <a:pt x="3041756" y="109182"/>
                  <a:pt x="3011606" y="109182"/>
                </a:cubicBezTo>
                <a:lnTo>
                  <a:pt x="54591" y="109182"/>
                </a:lnTo>
                <a:cubicBezTo>
                  <a:pt x="24461" y="109182"/>
                  <a:pt x="0" y="84721"/>
                  <a:pt x="0" y="54591"/>
                </a:cubicBezTo>
                <a:lnTo>
                  <a:pt x="0" y="54591"/>
                </a:lnTo>
                <a:cubicBezTo>
                  <a:pt x="0" y="24461"/>
                  <a:pt x="24461" y="0"/>
                  <a:pt x="54591" y="0"/>
                </a:cubicBezTo>
                <a:close/>
              </a:path>
            </a:pathLst>
          </a:custGeom>
          <a:solidFill>
            <a:srgbClr val="475569">
              <a:alpha val="3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389165" y="6277741"/>
            <a:ext cx="2447499" cy="109182"/>
          </a:xfrm>
          <a:custGeom>
            <a:avLst/>
            <a:gdLst/>
            <a:ahLst/>
            <a:cxnLst/>
            <a:rect l="l" t="t" r="r" b="b"/>
            <a:pathLst>
              <a:path w="2447499" h="109182">
                <a:moveTo>
                  <a:pt x="54591" y="0"/>
                </a:moveTo>
                <a:lnTo>
                  <a:pt x="2392907" y="0"/>
                </a:lnTo>
                <a:cubicBezTo>
                  <a:pt x="2423057" y="0"/>
                  <a:pt x="2447499" y="24441"/>
                  <a:pt x="2447499" y="54591"/>
                </a:cubicBezTo>
                <a:lnTo>
                  <a:pt x="2447499" y="54591"/>
                </a:lnTo>
                <a:cubicBezTo>
                  <a:pt x="2447499" y="84741"/>
                  <a:pt x="2423057" y="109182"/>
                  <a:pt x="2392907" y="109182"/>
                </a:cubicBezTo>
                <a:lnTo>
                  <a:pt x="54591" y="109182"/>
                </a:lnTo>
                <a:cubicBezTo>
                  <a:pt x="24461" y="109182"/>
                  <a:pt x="0" y="84721"/>
                  <a:pt x="0" y="54591"/>
                </a:cubicBezTo>
                <a:lnTo>
                  <a:pt x="0" y="54591"/>
                </a:lnTo>
                <a:cubicBezTo>
                  <a:pt x="0" y="24461"/>
                  <a:pt x="24461" y="0"/>
                  <a:pt x="545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/>
              </a:gs>
              <a:gs pos="100000">
                <a:srgbClr val="38BDF8">
                  <a:alpha val="60000"/>
                </a:srgbClr>
              </a:gs>
            </a:gsLst>
            <a:lin ang="0" scaled="1"/>
          </a:gradFill>
          <a:ln/>
        </p:spPr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0040338E-A793-14E9-9E8A-5BAD45D8A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270" y="1644012"/>
            <a:ext cx="3870732" cy="17634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19100"/>
            <a:ext cx="367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Технологический стек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Инструменты и технологии проекта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13510"/>
            <a:ext cx="3646170" cy="2979420"/>
          </a:xfrm>
          <a:custGeom>
            <a:avLst/>
            <a:gdLst/>
            <a:ahLst/>
            <a:cxnLst/>
            <a:rect l="l" t="t" r="r" b="b"/>
            <a:pathLst>
              <a:path w="3646170" h="29794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827023"/>
                </a:lnTo>
                <a:cubicBezTo>
                  <a:pt x="3646170" y="2911189"/>
                  <a:pt x="3577939" y="2979420"/>
                  <a:pt x="3493773" y="2979420"/>
                </a:cubicBezTo>
                <a:lnTo>
                  <a:pt x="152397" y="2979420"/>
                </a:lnTo>
                <a:cubicBezTo>
                  <a:pt x="68231" y="2979420"/>
                  <a:pt x="0" y="2911189"/>
                  <a:pt x="0" y="2827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80772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379220" y="1798323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2446023"/>
            <a:ext cx="3181350" cy="876300"/>
          </a:xfrm>
          <a:custGeom>
            <a:avLst/>
            <a:gdLst/>
            <a:ahLst/>
            <a:cxnLst/>
            <a:rect l="l" t="t" r="r" b="b"/>
            <a:pathLst>
              <a:path w="3181350" h="876300">
                <a:moveTo>
                  <a:pt x="114296" y="0"/>
                </a:moveTo>
                <a:lnTo>
                  <a:pt x="3067054" y="0"/>
                </a:lnTo>
                <a:cubicBezTo>
                  <a:pt x="3130178" y="0"/>
                  <a:pt x="3181350" y="51172"/>
                  <a:pt x="3181350" y="114296"/>
                </a:cubicBezTo>
                <a:lnTo>
                  <a:pt x="3181350" y="762004"/>
                </a:lnTo>
                <a:cubicBezTo>
                  <a:pt x="3181350" y="825128"/>
                  <a:pt x="3130178" y="876300"/>
                  <a:pt x="306705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0583" y="271272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80080" y="118676"/>
                </a:moveTo>
                <a:cubicBezTo>
                  <a:pt x="276463" y="117470"/>
                  <a:pt x="272847" y="116332"/>
                  <a:pt x="269230" y="115260"/>
                </a:cubicBezTo>
                <a:cubicBezTo>
                  <a:pt x="269833" y="112782"/>
                  <a:pt x="270369" y="110304"/>
                  <a:pt x="270904" y="107826"/>
                </a:cubicBezTo>
                <a:cubicBezTo>
                  <a:pt x="279142" y="67910"/>
                  <a:pt x="273717" y="35830"/>
                  <a:pt x="255434" y="25249"/>
                </a:cubicBezTo>
                <a:cubicBezTo>
                  <a:pt x="237820" y="15136"/>
                  <a:pt x="209089" y="25651"/>
                  <a:pt x="180022" y="50966"/>
                </a:cubicBezTo>
                <a:cubicBezTo>
                  <a:pt x="177143" y="53444"/>
                  <a:pt x="174330" y="56056"/>
                  <a:pt x="171651" y="58668"/>
                </a:cubicBezTo>
                <a:cubicBezTo>
                  <a:pt x="169843" y="56927"/>
                  <a:pt x="167967" y="55185"/>
                  <a:pt x="166092" y="53511"/>
                </a:cubicBezTo>
                <a:cubicBezTo>
                  <a:pt x="135620" y="26454"/>
                  <a:pt x="105080" y="15069"/>
                  <a:pt x="86797" y="25717"/>
                </a:cubicBezTo>
                <a:cubicBezTo>
                  <a:pt x="69250" y="35897"/>
                  <a:pt x="64026" y="66102"/>
                  <a:pt x="71393" y="103875"/>
                </a:cubicBezTo>
                <a:cubicBezTo>
                  <a:pt x="72130" y="107625"/>
                  <a:pt x="72933" y="111309"/>
                  <a:pt x="73871" y="115059"/>
                </a:cubicBezTo>
                <a:cubicBezTo>
                  <a:pt x="69585" y="116265"/>
                  <a:pt x="65365" y="117604"/>
                  <a:pt x="61414" y="119010"/>
                </a:cubicBezTo>
                <a:cubicBezTo>
                  <a:pt x="25651" y="131400"/>
                  <a:pt x="0" y="150956"/>
                  <a:pt x="0" y="171182"/>
                </a:cubicBezTo>
                <a:cubicBezTo>
                  <a:pt x="0" y="192078"/>
                  <a:pt x="27325" y="213040"/>
                  <a:pt x="64495" y="225765"/>
                </a:cubicBezTo>
                <a:cubicBezTo>
                  <a:pt x="67508" y="226769"/>
                  <a:pt x="70522" y="227774"/>
                  <a:pt x="73603" y="228645"/>
                </a:cubicBezTo>
                <a:cubicBezTo>
                  <a:pt x="72598" y="232663"/>
                  <a:pt x="71728" y="236614"/>
                  <a:pt x="70924" y="240700"/>
                </a:cubicBezTo>
                <a:cubicBezTo>
                  <a:pt x="63892" y="277870"/>
                  <a:pt x="69384" y="307338"/>
                  <a:pt x="86931" y="317450"/>
                </a:cubicBezTo>
                <a:cubicBezTo>
                  <a:pt x="105013" y="327898"/>
                  <a:pt x="135419" y="317183"/>
                  <a:pt x="165021" y="291264"/>
                </a:cubicBezTo>
                <a:cubicBezTo>
                  <a:pt x="167365" y="289188"/>
                  <a:pt x="169709" y="287045"/>
                  <a:pt x="172053" y="284768"/>
                </a:cubicBezTo>
                <a:cubicBezTo>
                  <a:pt x="175000" y="287648"/>
                  <a:pt x="178080" y="290393"/>
                  <a:pt x="181161" y="293072"/>
                </a:cubicBezTo>
                <a:cubicBezTo>
                  <a:pt x="209825" y="317718"/>
                  <a:pt x="238155" y="327697"/>
                  <a:pt x="255635" y="317584"/>
                </a:cubicBezTo>
                <a:cubicBezTo>
                  <a:pt x="273717" y="307137"/>
                  <a:pt x="279611" y="275459"/>
                  <a:pt x="271976" y="236882"/>
                </a:cubicBezTo>
                <a:cubicBezTo>
                  <a:pt x="271373" y="233935"/>
                  <a:pt x="270703" y="230922"/>
                  <a:pt x="269967" y="227841"/>
                </a:cubicBezTo>
                <a:cubicBezTo>
                  <a:pt x="272110" y="227238"/>
                  <a:pt x="274186" y="226568"/>
                  <a:pt x="276262" y="225899"/>
                </a:cubicBezTo>
                <a:cubicBezTo>
                  <a:pt x="314905" y="213107"/>
                  <a:pt x="342900" y="192412"/>
                  <a:pt x="342900" y="171182"/>
                </a:cubicBezTo>
                <a:cubicBezTo>
                  <a:pt x="342900" y="150889"/>
                  <a:pt x="316513" y="131199"/>
                  <a:pt x="280080" y="118676"/>
                </a:cubicBezTo>
                <a:close/>
                <a:moveTo>
                  <a:pt x="189466" y="61816"/>
                </a:moveTo>
                <a:cubicBezTo>
                  <a:pt x="214379" y="40117"/>
                  <a:pt x="237619" y="31611"/>
                  <a:pt x="248201" y="37706"/>
                </a:cubicBezTo>
                <a:cubicBezTo>
                  <a:pt x="259519" y="44202"/>
                  <a:pt x="263872" y="70455"/>
                  <a:pt x="256773" y="104946"/>
                </a:cubicBezTo>
                <a:cubicBezTo>
                  <a:pt x="256304" y="107223"/>
                  <a:pt x="255836" y="109433"/>
                  <a:pt x="255233" y="111643"/>
                </a:cubicBezTo>
                <a:cubicBezTo>
                  <a:pt x="240365" y="108295"/>
                  <a:pt x="225296" y="105884"/>
                  <a:pt x="210160" y="104544"/>
                </a:cubicBezTo>
                <a:cubicBezTo>
                  <a:pt x="201454" y="92087"/>
                  <a:pt x="191944" y="80166"/>
                  <a:pt x="181630" y="68982"/>
                </a:cubicBezTo>
                <a:cubicBezTo>
                  <a:pt x="184242" y="66504"/>
                  <a:pt x="186787" y="64160"/>
                  <a:pt x="189466" y="61816"/>
                </a:cubicBezTo>
                <a:close/>
                <a:moveTo>
                  <a:pt x="111978" y="205941"/>
                </a:moveTo>
                <a:cubicBezTo>
                  <a:pt x="115394" y="211768"/>
                  <a:pt x="118876" y="217594"/>
                  <a:pt x="122560" y="223287"/>
                </a:cubicBezTo>
                <a:cubicBezTo>
                  <a:pt x="112112" y="222148"/>
                  <a:pt x="101731" y="220474"/>
                  <a:pt x="91485" y="218264"/>
                </a:cubicBezTo>
                <a:cubicBezTo>
                  <a:pt x="94431" y="208620"/>
                  <a:pt x="98115" y="198641"/>
                  <a:pt x="102401" y="188461"/>
                </a:cubicBezTo>
                <a:cubicBezTo>
                  <a:pt x="105482" y="194355"/>
                  <a:pt x="108630" y="200181"/>
                  <a:pt x="111978" y="205941"/>
                </a:cubicBezTo>
                <a:close/>
                <a:moveTo>
                  <a:pt x="91686" y="125373"/>
                </a:moveTo>
                <a:cubicBezTo>
                  <a:pt x="101330" y="123230"/>
                  <a:pt x="111576" y="121488"/>
                  <a:pt x="122225" y="120149"/>
                </a:cubicBezTo>
                <a:cubicBezTo>
                  <a:pt x="118676" y="125708"/>
                  <a:pt x="115193" y="131400"/>
                  <a:pt x="111911" y="137160"/>
                </a:cubicBezTo>
                <a:cubicBezTo>
                  <a:pt x="108630" y="142853"/>
                  <a:pt x="105415" y="148679"/>
                  <a:pt x="102401" y="154573"/>
                </a:cubicBezTo>
                <a:cubicBezTo>
                  <a:pt x="98182" y="144594"/>
                  <a:pt x="94632" y="134816"/>
                  <a:pt x="91686" y="125373"/>
                </a:cubicBezTo>
                <a:close/>
                <a:moveTo>
                  <a:pt x="110036" y="171517"/>
                </a:moveTo>
                <a:cubicBezTo>
                  <a:pt x="114456" y="162275"/>
                  <a:pt x="119278" y="153233"/>
                  <a:pt x="124368" y="144326"/>
                </a:cubicBezTo>
                <a:cubicBezTo>
                  <a:pt x="129458" y="135419"/>
                  <a:pt x="134950" y="126779"/>
                  <a:pt x="140710" y="118274"/>
                </a:cubicBezTo>
                <a:cubicBezTo>
                  <a:pt x="150755" y="117537"/>
                  <a:pt x="161002" y="117135"/>
                  <a:pt x="171450" y="117135"/>
                </a:cubicBezTo>
                <a:cubicBezTo>
                  <a:pt x="181898" y="117135"/>
                  <a:pt x="192212" y="117537"/>
                  <a:pt x="202190" y="118274"/>
                </a:cubicBezTo>
                <a:cubicBezTo>
                  <a:pt x="207883" y="126712"/>
                  <a:pt x="213308" y="135352"/>
                  <a:pt x="218465" y="144192"/>
                </a:cubicBezTo>
                <a:cubicBezTo>
                  <a:pt x="223622" y="153033"/>
                  <a:pt x="228444" y="162074"/>
                  <a:pt x="232998" y="171249"/>
                </a:cubicBezTo>
                <a:cubicBezTo>
                  <a:pt x="228511" y="180491"/>
                  <a:pt x="223689" y="189600"/>
                  <a:pt x="218532" y="198574"/>
                </a:cubicBezTo>
                <a:cubicBezTo>
                  <a:pt x="213442" y="207481"/>
                  <a:pt x="208017" y="216121"/>
                  <a:pt x="202324" y="224693"/>
                </a:cubicBezTo>
                <a:cubicBezTo>
                  <a:pt x="192345" y="225430"/>
                  <a:pt x="181965" y="225765"/>
                  <a:pt x="171450" y="225765"/>
                </a:cubicBezTo>
                <a:cubicBezTo>
                  <a:pt x="160935" y="225765"/>
                  <a:pt x="150755" y="225430"/>
                  <a:pt x="140910" y="224827"/>
                </a:cubicBezTo>
                <a:cubicBezTo>
                  <a:pt x="135084" y="216322"/>
                  <a:pt x="129592" y="207615"/>
                  <a:pt x="124435" y="198708"/>
                </a:cubicBezTo>
                <a:cubicBezTo>
                  <a:pt x="119278" y="189801"/>
                  <a:pt x="114523" y="180759"/>
                  <a:pt x="110036" y="171517"/>
                </a:cubicBezTo>
                <a:close/>
                <a:moveTo>
                  <a:pt x="230989" y="205807"/>
                </a:moveTo>
                <a:cubicBezTo>
                  <a:pt x="234404" y="199913"/>
                  <a:pt x="237619" y="193953"/>
                  <a:pt x="240767" y="187925"/>
                </a:cubicBezTo>
                <a:cubicBezTo>
                  <a:pt x="245053" y="197636"/>
                  <a:pt x="248803" y="207481"/>
                  <a:pt x="252085" y="217594"/>
                </a:cubicBezTo>
                <a:cubicBezTo>
                  <a:pt x="241704" y="219938"/>
                  <a:pt x="231190" y="221746"/>
                  <a:pt x="220608" y="222952"/>
                </a:cubicBezTo>
                <a:cubicBezTo>
                  <a:pt x="224224" y="217326"/>
                  <a:pt x="227640" y="211567"/>
                  <a:pt x="230989" y="205807"/>
                </a:cubicBezTo>
                <a:close/>
                <a:moveTo>
                  <a:pt x="240633" y="154573"/>
                </a:moveTo>
                <a:cubicBezTo>
                  <a:pt x="237485" y="148679"/>
                  <a:pt x="234270" y="142786"/>
                  <a:pt x="230922" y="137026"/>
                </a:cubicBezTo>
                <a:cubicBezTo>
                  <a:pt x="227640" y="131333"/>
                  <a:pt x="224224" y="125708"/>
                  <a:pt x="220675" y="120149"/>
                </a:cubicBezTo>
                <a:cubicBezTo>
                  <a:pt x="231458" y="121488"/>
                  <a:pt x="241771" y="123297"/>
                  <a:pt x="251415" y="125507"/>
                </a:cubicBezTo>
                <a:cubicBezTo>
                  <a:pt x="248335" y="135419"/>
                  <a:pt x="244718" y="145063"/>
                  <a:pt x="240633" y="154573"/>
                </a:cubicBezTo>
                <a:close/>
                <a:moveTo>
                  <a:pt x="171584" y="79229"/>
                </a:moveTo>
                <a:cubicBezTo>
                  <a:pt x="178616" y="86864"/>
                  <a:pt x="185246" y="94900"/>
                  <a:pt x="191408" y="103205"/>
                </a:cubicBezTo>
                <a:cubicBezTo>
                  <a:pt x="178147" y="102602"/>
                  <a:pt x="164820" y="102602"/>
                  <a:pt x="151559" y="103205"/>
                </a:cubicBezTo>
                <a:cubicBezTo>
                  <a:pt x="158122" y="94565"/>
                  <a:pt x="164887" y="86529"/>
                  <a:pt x="171584" y="79229"/>
                </a:cubicBezTo>
                <a:close/>
                <a:moveTo>
                  <a:pt x="93896" y="38174"/>
                </a:moveTo>
                <a:cubicBezTo>
                  <a:pt x="105147" y="31611"/>
                  <a:pt x="130128" y="40987"/>
                  <a:pt x="156448" y="64294"/>
                </a:cubicBezTo>
                <a:cubicBezTo>
                  <a:pt x="158122" y="65767"/>
                  <a:pt x="159797" y="67374"/>
                  <a:pt x="161538" y="68982"/>
                </a:cubicBezTo>
                <a:cubicBezTo>
                  <a:pt x="151157" y="80166"/>
                  <a:pt x="141580" y="92087"/>
                  <a:pt x="132807" y="104544"/>
                </a:cubicBezTo>
                <a:cubicBezTo>
                  <a:pt x="117671" y="105884"/>
                  <a:pt x="102669" y="108228"/>
                  <a:pt x="87801" y="111509"/>
                </a:cubicBezTo>
                <a:cubicBezTo>
                  <a:pt x="86931" y="108094"/>
                  <a:pt x="86194" y="104611"/>
                  <a:pt x="85457" y="101129"/>
                </a:cubicBezTo>
                <a:cubicBezTo>
                  <a:pt x="79162" y="68714"/>
                  <a:pt x="83314" y="44269"/>
                  <a:pt x="93896" y="38174"/>
                </a:cubicBezTo>
                <a:close/>
                <a:moveTo>
                  <a:pt x="77487" y="214714"/>
                </a:moveTo>
                <a:cubicBezTo>
                  <a:pt x="74675" y="213911"/>
                  <a:pt x="71929" y="213040"/>
                  <a:pt x="69183" y="212102"/>
                </a:cubicBezTo>
                <a:cubicBezTo>
                  <a:pt x="54918" y="207615"/>
                  <a:pt x="38710" y="200516"/>
                  <a:pt x="26990" y="191207"/>
                </a:cubicBezTo>
                <a:cubicBezTo>
                  <a:pt x="20226" y="186519"/>
                  <a:pt x="15672" y="179286"/>
                  <a:pt x="14399" y="171182"/>
                </a:cubicBezTo>
                <a:cubicBezTo>
                  <a:pt x="14399" y="158926"/>
                  <a:pt x="35562" y="143255"/>
                  <a:pt x="66102" y="132606"/>
                </a:cubicBezTo>
                <a:cubicBezTo>
                  <a:pt x="69919" y="131266"/>
                  <a:pt x="73804" y="130061"/>
                  <a:pt x="77688" y="128922"/>
                </a:cubicBezTo>
                <a:cubicBezTo>
                  <a:pt x="82242" y="143455"/>
                  <a:pt x="87734" y="157721"/>
                  <a:pt x="94097" y="171517"/>
                </a:cubicBezTo>
                <a:cubicBezTo>
                  <a:pt x="87667" y="185514"/>
                  <a:pt x="82108" y="199980"/>
                  <a:pt x="77487" y="214714"/>
                </a:cubicBezTo>
                <a:close/>
                <a:moveTo>
                  <a:pt x="155577" y="280348"/>
                </a:moveTo>
                <a:cubicBezTo>
                  <a:pt x="144527" y="290460"/>
                  <a:pt x="131735" y="298497"/>
                  <a:pt x="117805" y="303989"/>
                </a:cubicBezTo>
                <a:cubicBezTo>
                  <a:pt x="110371" y="307538"/>
                  <a:pt x="101798" y="307873"/>
                  <a:pt x="94164" y="304860"/>
                </a:cubicBezTo>
                <a:cubicBezTo>
                  <a:pt x="83515" y="298698"/>
                  <a:pt x="79095" y="275057"/>
                  <a:pt x="85122" y="243245"/>
                </a:cubicBezTo>
                <a:cubicBezTo>
                  <a:pt x="85859" y="239494"/>
                  <a:pt x="86663" y="235744"/>
                  <a:pt x="87600" y="232060"/>
                </a:cubicBezTo>
                <a:cubicBezTo>
                  <a:pt x="102602" y="235275"/>
                  <a:pt x="117738" y="237485"/>
                  <a:pt x="133075" y="238624"/>
                </a:cubicBezTo>
                <a:cubicBezTo>
                  <a:pt x="141915" y="251147"/>
                  <a:pt x="151626" y="263136"/>
                  <a:pt x="162007" y="274387"/>
                </a:cubicBezTo>
                <a:cubicBezTo>
                  <a:pt x="159864" y="276463"/>
                  <a:pt x="157721" y="278472"/>
                  <a:pt x="155577" y="280348"/>
                </a:cubicBezTo>
                <a:close/>
                <a:moveTo>
                  <a:pt x="171986" y="264073"/>
                </a:moveTo>
                <a:cubicBezTo>
                  <a:pt x="165155" y="256706"/>
                  <a:pt x="158323" y="248536"/>
                  <a:pt x="151693" y="239762"/>
                </a:cubicBezTo>
                <a:cubicBezTo>
                  <a:pt x="158122" y="240030"/>
                  <a:pt x="164753" y="240164"/>
                  <a:pt x="171450" y="240164"/>
                </a:cubicBezTo>
                <a:cubicBezTo>
                  <a:pt x="178348" y="240164"/>
                  <a:pt x="185112" y="240030"/>
                  <a:pt x="191810" y="239695"/>
                </a:cubicBezTo>
                <a:cubicBezTo>
                  <a:pt x="185648" y="248201"/>
                  <a:pt x="179018" y="256304"/>
                  <a:pt x="171986" y="264073"/>
                </a:cubicBezTo>
                <a:close/>
                <a:moveTo>
                  <a:pt x="259519" y="284165"/>
                </a:moveTo>
                <a:cubicBezTo>
                  <a:pt x="258916" y="292336"/>
                  <a:pt x="254898" y="299971"/>
                  <a:pt x="248469" y="305127"/>
                </a:cubicBezTo>
                <a:cubicBezTo>
                  <a:pt x="237820" y="311289"/>
                  <a:pt x="215116" y="303252"/>
                  <a:pt x="190604" y="282223"/>
                </a:cubicBezTo>
                <a:cubicBezTo>
                  <a:pt x="187791" y="279812"/>
                  <a:pt x="184978" y="277200"/>
                  <a:pt x="182099" y="274521"/>
                </a:cubicBezTo>
                <a:cubicBezTo>
                  <a:pt x="192345" y="263203"/>
                  <a:pt x="201789" y="251214"/>
                  <a:pt x="210361" y="238624"/>
                </a:cubicBezTo>
                <a:cubicBezTo>
                  <a:pt x="225698" y="237351"/>
                  <a:pt x="240968" y="235007"/>
                  <a:pt x="256036" y="231591"/>
                </a:cubicBezTo>
                <a:cubicBezTo>
                  <a:pt x="256706" y="234337"/>
                  <a:pt x="257309" y="237083"/>
                  <a:pt x="257845" y="239762"/>
                </a:cubicBezTo>
                <a:cubicBezTo>
                  <a:pt x="261126" y="254228"/>
                  <a:pt x="261662" y="269297"/>
                  <a:pt x="259519" y="284165"/>
                </a:cubicBezTo>
                <a:close/>
                <a:moveTo>
                  <a:pt x="271708" y="212169"/>
                </a:moveTo>
                <a:cubicBezTo>
                  <a:pt x="269833" y="212772"/>
                  <a:pt x="267958" y="213375"/>
                  <a:pt x="266015" y="213911"/>
                </a:cubicBezTo>
                <a:cubicBezTo>
                  <a:pt x="261327" y="199311"/>
                  <a:pt x="255568" y="185045"/>
                  <a:pt x="248937" y="171182"/>
                </a:cubicBezTo>
                <a:cubicBezTo>
                  <a:pt x="255367" y="157520"/>
                  <a:pt x="260792" y="143455"/>
                  <a:pt x="265346" y="129056"/>
                </a:cubicBezTo>
                <a:cubicBezTo>
                  <a:pt x="268828" y="130061"/>
                  <a:pt x="272177" y="131132"/>
                  <a:pt x="275392" y="132204"/>
                </a:cubicBezTo>
                <a:cubicBezTo>
                  <a:pt x="306601" y="142920"/>
                  <a:pt x="328501" y="158859"/>
                  <a:pt x="328501" y="171048"/>
                </a:cubicBezTo>
                <a:cubicBezTo>
                  <a:pt x="328501" y="184175"/>
                  <a:pt x="305127" y="201119"/>
                  <a:pt x="271708" y="212169"/>
                </a:cubicBezTo>
                <a:close/>
                <a:moveTo>
                  <a:pt x="171450" y="202123"/>
                </a:moveTo>
                <a:cubicBezTo>
                  <a:pt x="188379" y="202123"/>
                  <a:pt x="202123" y="188379"/>
                  <a:pt x="202123" y="171450"/>
                </a:cubicBezTo>
                <a:cubicBezTo>
                  <a:pt x="202123" y="154521"/>
                  <a:pt x="188379" y="140777"/>
                  <a:pt x="171450" y="140777"/>
                </a:cubicBezTo>
                <a:cubicBezTo>
                  <a:pt x="154521" y="140777"/>
                  <a:pt x="140777" y="154521"/>
                  <a:pt x="140777" y="171450"/>
                </a:cubicBezTo>
                <a:cubicBezTo>
                  <a:pt x="140777" y="188379"/>
                  <a:pt x="154521" y="202123"/>
                  <a:pt x="171450" y="20212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388745" y="2636523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8745" y="2903223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библиотека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1010" y="1413510"/>
            <a:ext cx="3646170" cy="2979420"/>
          </a:xfrm>
          <a:custGeom>
            <a:avLst/>
            <a:gdLst/>
            <a:ahLst/>
            <a:cxnLst/>
            <a:rect l="l" t="t" r="r" b="b"/>
            <a:pathLst>
              <a:path w="3646170" h="29794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827023"/>
                </a:lnTo>
                <a:cubicBezTo>
                  <a:pt x="3646170" y="2911189"/>
                  <a:pt x="3577939" y="2979420"/>
                  <a:pt x="3493773" y="2979420"/>
                </a:cubicBezTo>
                <a:lnTo>
                  <a:pt x="152397" y="2979420"/>
                </a:lnTo>
                <a:cubicBezTo>
                  <a:pt x="68231" y="2979420"/>
                  <a:pt x="0" y="2911189"/>
                  <a:pt x="0" y="2827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342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8208" y="18364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265420" y="1798323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03420" y="2446023"/>
            <a:ext cx="3181350" cy="800100"/>
          </a:xfrm>
          <a:custGeom>
            <a:avLst/>
            <a:gdLst/>
            <a:ahLst/>
            <a:cxnLst/>
            <a:rect l="l" t="t" r="r" b="b"/>
            <a:pathLst>
              <a:path w="3181350" h="800100">
                <a:moveTo>
                  <a:pt x="114302" y="0"/>
                </a:moveTo>
                <a:lnTo>
                  <a:pt x="3067048" y="0"/>
                </a:lnTo>
                <a:cubicBezTo>
                  <a:pt x="3130133" y="0"/>
                  <a:pt x="3181350" y="51217"/>
                  <a:pt x="3181350" y="114302"/>
                </a:cubicBezTo>
                <a:lnTo>
                  <a:pt x="3181350" y="685798"/>
                </a:lnTo>
                <a:cubicBezTo>
                  <a:pt x="3181350" y="748883"/>
                  <a:pt x="3130133" y="800100"/>
                  <a:pt x="30670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98683" y="27317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55870" y="2598423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55870" y="2865123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Язык программирования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03420" y="3360423"/>
            <a:ext cx="3181350" cy="800100"/>
          </a:xfrm>
          <a:custGeom>
            <a:avLst/>
            <a:gdLst/>
            <a:ahLst/>
            <a:cxnLst/>
            <a:rect l="l" t="t" r="r" b="b"/>
            <a:pathLst>
              <a:path w="3181350" h="800100">
                <a:moveTo>
                  <a:pt x="114302" y="0"/>
                </a:moveTo>
                <a:lnTo>
                  <a:pt x="3067048" y="0"/>
                </a:lnTo>
                <a:cubicBezTo>
                  <a:pt x="3130133" y="0"/>
                  <a:pt x="3181350" y="51217"/>
                  <a:pt x="3181350" y="114302"/>
                </a:cubicBezTo>
                <a:lnTo>
                  <a:pt x="3181350" y="685798"/>
                </a:lnTo>
                <a:cubicBezTo>
                  <a:pt x="3181350" y="748883"/>
                  <a:pt x="3130133" y="800100"/>
                  <a:pt x="30670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98683" y="36461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5055870" y="3512823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55870" y="3779523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Веб-фреймворк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57210" y="1413510"/>
            <a:ext cx="3646170" cy="2979420"/>
          </a:xfrm>
          <a:custGeom>
            <a:avLst/>
            <a:gdLst/>
            <a:ahLst/>
            <a:cxnLst/>
            <a:rect l="l" t="t" r="r" b="b"/>
            <a:pathLst>
              <a:path w="3646170" h="29794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827023"/>
                </a:lnTo>
                <a:cubicBezTo>
                  <a:pt x="3646170" y="2911189"/>
                  <a:pt x="3577939" y="2979420"/>
                  <a:pt x="3493773" y="2979420"/>
                </a:cubicBezTo>
                <a:lnTo>
                  <a:pt x="152397" y="2979420"/>
                </a:lnTo>
                <a:cubicBezTo>
                  <a:pt x="68231" y="2979420"/>
                  <a:pt x="0" y="2911189"/>
                  <a:pt x="0" y="2827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F43F5E">
                  <a:alpha val="5000"/>
                </a:srgbClr>
              </a:gs>
            </a:gsLst>
            <a:lin ang="2700000" scaled="1"/>
          </a:gradFill>
          <a:ln w="1016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962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8012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51620" y="1798323"/>
            <a:ext cx="32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9620" y="2446023"/>
            <a:ext cx="3181350" cy="800100"/>
          </a:xfrm>
          <a:custGeom>
            <a:avLst/>
            <a:gdLst/>
            <a:ahLst/>
            <a:cxnLst/>
            <a:rect l="l" t="t" r="r" b="b"/>
            <a:pathLst>
              <a:path w="3181350" h="800100">
                <a:moveTo>
                  <a:pt x="114302" y="0"/>
                </a:moveTo>
                <a:lnTo>
                  <a:pt x="3067048" y="0"/>
                </a:lnTo>
                <a:cubicBezTo>
                  <a:pt x="3130133" y="0"/>
                  <a:pt x="3181350" y="51217"/>
                  <a:pt x="3181350" y="114302"/>
                </a:cubicBezTo>
                <a:lnTo>
                  <a:pt x="3181350" y="685798"/>
                </a:lnTo>
                <a:cubicBezTo>
                  <a:pt x="3181350" y="748883"/>
                  <a:pt x="3130133" y="800100"/>
                  <a:pt x="30670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84882" y="27317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8942070" y="2598423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42070" y="286512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фреймворк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9620" y="3360423"/>
            <a:ext cx="3181350" cy="800100"/>
          </a:xfrm>
          <a:custGeom>
            <a:avLst/>
            <a:gdLst/>
            <a:ahLst/>
            <a:cxnLst/>
            <a:rect l="l" t="t" r="r" b="b"/>
            <a:pathLst>
              <a:path w="3181350" h="800100">
                <a:moveTo>
                  <a:pt x="114302" y="0"/>
                </a:moveTo>
                <a:lnTo>
                  <a:pt x="3067048" y="0"/>
                </a:lnTo>
                <a:cubicBezTo>
                  <a:pt x="3130133" y="0"/>
                  <a:pt x="3181350" y="51217"/>
                  <a:pt x="3181350" y="114302"/>
                </a:cubicBezTo>
                <a:lnTo>
                  <a:pt x="3181350" y="685798"/>
                </a:lnTo>
                <a:cubicBezTo>
                  <a:pt x="3181350" y="748883"/>
                  <a:pt x="3130133" y="800100"/>
                  <a:pt x="30670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70595" y="36461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35" name="Text 33"/>
          <p:cNvSpPr/>
          <p:nvPr/>
        </p:nvSpPr>
        <p:spPr>
          <a:xfrm>
            <a:off x="8942070" y="3512823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42070" y="377952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фреймворк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810" y="4591051"/>
            <a:ext cx="11418570" cy="2141220"/>
          </a:xfrm>
          <a:custGeom>
            <a:avLst/>
            <a:gdLst/>
            <a:ahLst/>
            <a:cxnLst/>
            <a:rect l="l" t="t" r="r" b="b"/>
            <a:pathLst>
              <a:path w="11418570" h="2141220">
                <a:moveTo>
                  <a:pt x="152391" y="0"/>
                </a:moveTo>
                <a:lnTo>
                  <a:pt x="11266179" y="0"/>
                </a:lnTo>
                <a:cubicBezTo>
                  <a:pt x="11350342" y="0"/>
                  <a:pt x="11418570" y="68228"/>
                  <a:pt x="11418570" y="152391"/>
                </a:cubicBezTo>
                <a:lnTo>
                  <a:pt x="11418570" y="1988829"/>
                </a:lnTo>
                <a:cubicBezTo>
                  <a:pt x="11418570" y="2072992"/>
                  <a:pt x="11350342" y="2141220"/>
                  <a:pt x="11266179" y="2141220"/>
                </a:cubicBezTo>
                <a:lnTo>
                  <a:pt x="152391" y="2141220"/>
                </a:lnTo>
                <a:cubicBezTo>
                  <a:pt x="68228" y="2141220"/>
                  <a:pt x="0" y="2072992"/>
                  <a:pt x="0" y="198882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" y="48234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9" name="Shape 37"/>
          <p:cNvSpPr/>
          <p:nvPr/>
        </p:nvSpPr>
        <p:spPr>
          <a:xfrm>
            <a:off x="793433" y="501395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36178" y="85279"/>
                </a:moveTo>
                <a:cubicBezTo>
                  <a:pt x="131981" y="81082"/>
                  <a:pt x="125194" y="81082"/>
                  <a:pt x="121042" y="85279"/>
                </a:cubicBezTo>
                <a:lnTo>
                  <a:pt x="88895" y="117425"/>
                </a:lnTo>
                <a:cubicBezTo>
                  <a:pt x="84698" y="121622"/>
                  <a:pt x="84698" y="128409"/>
                  <a:pt x="88895" y="132561"/>
                </a:cubicBezTo>
                <a:cubicBezTo>
                  <a:pt x="93092" y="136714"/>
                  <a:pt x="99879" y="136758"/>
                  <a:pt x="104031" y="132561"/>
                </a:cubicBezTo>
                <a:lnTo>
                  <a:pt x="117872" y="118720"/>
                </a:lnTo>
                <a:lnTo>
                  <a:pt x="117872" y="164306"/>
                </a:lnTo>
                <a:cubicBezTo>
                  <a:pt x="117872" y="170244"/>
                  <a:pt x="122649" y="175022"/>
                  <a:pt x="128588" y="175022"/>
                </a:cubicBezTo>
                <a:cubicBezTo>
                  <a:pt x="134526" y="175022"/>
                  <a:pt x="139303" y="170244"/>
                  <a:pt x="139303" y="164306"/>
                </a:cubicBezTo>
                <a:lnTo>
                  <a:pt x="139303" y="118720"/>
                </a:lnTo>
                <a:lnTo>
                  <a:pt x="153144" y="132561"/>
                </a:lnTo>
                <a:cubicBezTo>
                  <a:pt x="157341" y="136758"/>
                  <a:pt x="164128" y="136758"/>
                  <a:pt x="168280" y="132561"/>
                </a:cubicBezTo>
                <a:cubicBezTo>
                  <a:pt x="172432" y="128364"/>
                  <a:pt x="172477" y="121578"/>
                  <a:pt x="168280" y="117425"/>
                </a:cubicBezTo>
                <a:lnTo>
                  <a:pt x="136133" y="85279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1379220" y="4975859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" y="5623559"/>
            <a:ext cx="5400675" cy="876300"/>
          </a:xfrm>
          <a:custGeom>
            <a:avLst/>
            <a:gdLst/>
            <a:ahLst/>
            <a:cxnLst/>
            <a:rect l="l" t="t" r="r" b="b"/>
            <a:pathLst>
              <a:path w="5400675" h="876300">
                <a:moveTo>
                  <a:pt x="114296" y="0"/>
                </a:moveTo>
                <a:lnTo>
                  <a:pt x="5286379" y="0"/>
                </a:lnTo>
                <a:cubicBezTo>
                  <a:pt x="5349503" y="0"/>
                  <a:pt x="5400675" y="51172"/>
                  <a:pt x="5400675" y="114296"/>
                </a:cubicBezTo>
                <a:lnTo>
                  <a:pt x="5400675" y="762004"/>
                </a:lnTo>
                <a:cubicBezTo>
                  <a:pt x="5400675" y="825128"/>
                  <a:pt x="5349503" y="876300"/>
                  <a:pt x="528637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7961" y="591883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1317308" y="5814059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Облако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17308" y="6080759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/ GCP / Azure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2200" y="5623559"/>
            <a:ext cx="5400675" cy="876300"/>
          </a:xfrm>
          <a:custGeom>
            <a:avLst/>
            <a:gdLst/>
            <a:ahLst/>
            <a:cxnLst/>
            <a:rect l="l" t="t" r="r" b="b"/>
            <a:pathLst>
              <a:path w="5400675" h="876300">
                <a:moveTo>
                  <a:pt x="114296" y="0"/>
                </a:moveTo>
                <a:lnTo>
                  <a:pt x="5286379" y="0"/>
                </a:lnTo>
                <a:cubicBezTo>
                  <a:pt x="5349503" y="0"/>
                  <a:pt x="5400675" y="51172"/>
                  <a:pt x="5400675" y="114296"/>
                </a:cubicBezTo>
                <a:lnTo>
                  <a:pt x="5400675" y="762004"/>
                </a:lnTo>
                <a:cubicBezTo>
                  <a:pt x="5400675" y="825128"/>
                  <a:pt x="5349503" y="876300"/>
                  <a:pt x="528637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18659" y="591883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6872288" y="5814059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Сервер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2288" y="608075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Один выделенный сервер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8199120" y="1417320"/>
            <a:ext cx="3606165" cy="5053965"/>
          </a:xfrm>
          <a:custGeom>
            <a:avLst/>
            <a:gdLst/>
            <a:ahLst/>
            <a:cxnLst/>
            <a:rect l="l" t="t" r="r" b="b"/>
            <a:pathLst>
              <a:path w="3606165" h="5053965">
                <a:moveTo>
                  <a:pt x="152397" y="0"/>
                </a:moveTo>
                <a:lnTo>
                  <a:pt x="3453768" y="0"/>
                </a:lnTo>
                <a:cubicBezTo>
                  <a:pt x="3537935" y="0"/>
                  <a:pt x="3606165" y="68230"/>
                  <a:pt x="3606165" y="152397"/>
                </a:cubicBezTo>
                <a:lnTo>
                  <a:pt x="3606165" y="4901568"/>
                </a:lnTo>
                <a:cubicBezTo>
                  <a:pt x="3606165" y="4985735"/>
                  <a:pt x="3537935" y="5053965"/>
                  <a:pt x="3453768" y="5053965"/>
                </a:cubicBezTo>
                <a:lnTo>
                  <a:pt x="152397" y="5053965"/>
                </a:lnTo>
                <a:cubicBezTo>
                  <a:pt x="68230" y="5053965"/>
                  <a:pt x="0" y="4985735"/>
                  <a:pt x="0" y="490156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20320">
            <a:solidFill>
              <a:srgbClr val="38BDF8">
                <a:alpha val="50196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19100"/>
            <a:ext cx="3933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функциональность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функции первой версии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13510"/>
            <a:ext cx="3684270" cy="2426970"/>
          </a:xfrm>
          <a:custGeom>
            <a:avLst/>
            <a:gdLst/>
            <a:ahLst/>
            <a:cxnLst/>
            <a:rect l="l" t="t" r="r" b="b"/>
            <a:pathLst>
              <a:path w="3684270" h="2426970">
                <a:moveTo>
                  <a:pt x="152389" y="0"/>
                </a:moveTo>
                <a:lnTo>
                  <a:pt x="3531881" y="0"/>
                </a:lnTo>
                <a:cubicBezTo>
                  <a:pt x="3615987" y="0"/>
                  <a:pt x="3684270" y="68283"/>
                  <a:pt x="3684270" y="152389"/>
                </a:cubicBezTo>
                <a:lnTo>
                  <a:pt x="3684270" y="2274581"/>
                </a:lnTo>
                <a:cubicBezTo>
                  <a:pt x="3684270" y="2358743"/>
                  <a:pt x="3616043" y="2426970"/>
                  <a:pt x="3531881" y="2426970"/>
                </a:cubicBezTo>
                <a:lnTo>
                  <a:pt x="152389" y="2426970"/>
                </a:lnTo>
                <a:cubicBezTo>
                  <a:pt x="68283" y="2426970"/>
                  <a:pt x="0" y="2358687"/>
                  <a:pt x="0" y="22745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45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800576" y="18173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779273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ECG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331723"/>
            <a:ext cx="32956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Загрузка файла ЭКГ в систему через простой drag-and-drop интерфейс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1010" y="1413510"/>
            <a:ext cx="3684270" cy="2426970"/>
          </a:xfrm>
          <a:custGeom>
            <a:avLst/>
            <a:gdLst/>
            <a:ahLst/>
            <a:cxnLst/>
            <a:rect l="l" t="t" r="r" b="b"/>
            <a:pathLst>
              <a:path w="3684270" h="2426970">
                <a:moveTo>
                  <a:pt x="152389" y="0"/>
                </a:moveTo>
                <a:lnTo>
                  <a:pt x="3531881" y="0"/>
                </a:lnTo>
                <a:cubicBezTo>
                  <a:pt x="3615987" y="0"/>
                  <a:pt x="3684270" y="68283"/>
                  <a:pt x="3684270" y="152389"/>
                </a:cubicBezTo>
                <a:lnTo>
                  <a:pt x="3684270" y="2274581"/>
                </a:lnTo>
                <a:cubicBezTo>
                  <a:pt x="3684270" y="2358743"/>
                  <a:pt x="3616043" y="2426970"/>
                  <a:pt x="3531881" y="2426970"/>
                </a:cubicBezTo>
                <a:lnTo>
                  <a:pt x="152389" y="2426970"/>
                </a:lnTo>
                <a:cubicBezTo>
                  <a:pt x="68283" y="2426970"/>
                  <a:pt x="0" y="2358687"/>
                  <a:pt x="0" y="22745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3420" y="1645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74870" y="18173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189220" y="1779273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Кнопка "Analyze"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3420" y="2331723"/>
            <a:ext cx="32956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Запуск анализа одним нажатием кнопки для мгновенной обработки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4042410"/>
            <a:ext cx="3684270" cy="2426970"/>
          </a:xfrm>
          <a:custGeom>
            <a:avLst/>
            <a:gdLst/>
            <a:ahLst/>
            <a:cxnLst/>
            <a:rect l="l" t="t" r="r" b="b"/>
            <a:pathLst>
              <a:path w="3684270" h="2426970">
                <a:moveTo>
                  <a:pt x="152389" y="0"/>
                </a:moveTo>
                <a:lnTo>
                  <a:pt x="3531881" y="0"/>
                </a:lnTo>
                <a:cubicBezTo>
                  <a:pt x="3615987" y="0"/>
                  <a:pt x="3684270" y="68283"/>
                  <a:pt x="3684270" y="152389"/>
                </a:cubicBezTo>
                <a:lnTo>
                  <a:pt x="3684270" y="2274581"/>
                </a:lnTo>
                <a:cubicBezTo>
                  <a:pt x="3684270" y="2358743"/>
                  <a:pt x="3616043" y="2426970"/>
                  <a:pt x="3531881" y="2426970"/>
                </a:cubicBezTo>
                <a:lnTo>
                  <a:pt x="152389" y="2426970"/>
                </a:lnTo>
                <a:cubicBezTo>
                  <a:pt x="68283" y="2426970"/>
                  <a:pt x="0" y="2358687"/>
                  <a:pt x="0" y="22745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F43F5E">
                  <a:alpha val="5000"/>
                </a:srgbClr>
              </a:gs>
            </a:gsLst>
            <a:lin ang="2700000" scaled="1"/>
          </a:gradFill>
          <a:ln w="1016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" y="4274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6764" y="44462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03020" y="4408173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+ вероятность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" y="4960623"/>
            <a:ext cx="32956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Отображение класса ритма с confidence score для оценки надёжности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71010" y="4042410"/>
            <a:ext cx="3684270" cy="2426970"/>
          </a:xfrm>
          <a:custGeom>
            <a:avLst/>
            <a:gdLst/>
            <a:ahLst/>
            <a:cxnLst/>
            <a:rect l="l" t="t" r="r" b="b"/>
            <a:pathLst>
              <a:path w="3684270" h="2426970">
                <a:moveTo>
                  <a:pt x="152389" y="0"/>
                </a:moveTo>
                <a:lnTo>
                  <a:pt x="3531881" y="0"/>
                </a:lnTo>
                <a:cubicBezTo>
                  <a:pt x="3615987" y="0"/>
                  <a:pt x="3684270" y="68283"/>
                  <a:pt x="3684270" y="152389"/>
                </a:cubicBezTo>
                <a:lnTo>
                  <a:pt x="3684270" y="2274581"/>
                </a:lnTo>
                <a:cubicBezTo>
                  <a:pt x="3684270" y="2358743"/>
                  <a:pt x="3616043" y="2426970"/>
                  <a:pt x="3531881" y="2426970"/>
                </a:cubicBezTo>
                <a:lnTo>
                  <a:pt x="152389" y="2426970"/>
                </a:lnTo>
                <a:cubicBezTo>
                  <a:pt x="68283" y="2426970"/>
                  <a:pt x="0" y="2358687"/>
                  <a:pt x="0" y="22745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F43F5E">
                  <a:alpha val="5000"/>
                </a:srgbClr>
              </a:gs>
            </a:gsLst>
            <a:lin ang="2700000" scaled="1"/>
          </a:gradFill>
          <a:ln w="1016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3420" y="4274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4674870" y="44462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89220" y="4408173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График сигнала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03420" y="4960623"/>
            <a:ext cx="32956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Визуализация загруженного сигнала ЭКГ для визуальной проверки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20250" y="2057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9842897" y="22955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8454390" y="2971800"/>
            <a:ext cx="3095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471779" y="3352684"/>
            <a:ext cx="1057275" cy="419100"/>
          </a:xfrm>
          <a:custGeom>
            <a:avLst/>
            <a:gdLst/>
            <a:ahLst/>
            <a:cxnLst/>
            <a:rect l="l" t="t" r="r" b="b"/>
            <a:pathLst>
              <a:path w="1057275" h="419100">
                <a:moveTo>
                  <a:pt x="76201" y="0"/>
                </a:moveTo>
                <a:lnTo>
                  <a:pt x="981074" y="0"/>
                </a:lnTo>
                <a:cubicBezTo>
                  <a:pt x="1023159" y="0"/>
                  <a:pt x="1057275" y="34116"/>
                  <a:pt x="1057275" y="76201"/>
                </a:cubicBezTo>
                <a:lnTo>
                  <a:pt x="1057275" y="342899"/>
                </a:lnTo>
                <a:cubicBezTo>
                  <a:pt x="1057275" y="384984"/>
                  <a:pt x="1023159" y="419100"/>
                  <a:pt x="9810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81317" y="3459361"/>
            <a:ext cx="83986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/predict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11540" y="4000384"/>
            <a:ext cx="2981325" cy="1828800"/>
          </a:xfrm>
          <a:custGeom>
            <a:avLst/>
            <a:gdLst/>
            <a:ahLst/>
            <a:cxnLst/>
            <a:rect l="l" t="t" r="r" b="b"/>
            <a:pathLst>
              <a:path w="2981325" h="1828800">
                <a:moveTo>
                  <a:pt x="114300" y="0"/>
                </a:moveTo>
                <a:lnTo>
                  <a:pt x="2867025" y="0"/>
                </a:lnTo>
                <a:cubicBezTo>
                  <a:pt x="2930109" y="0"/>
                  <a:pt x="2981325" y="51216"/>
                  <a:pt x="2981325" y="114300"/>
                </a:cubicBezTo>
                <a:lnTo>
                  <a:pt x="2981325" y="1714500"/>
                </a:lnTo>
                <a:cubicBezTo>
                  <a:pt x="2981325" y="1777584"/>
                  <a:pt x="2930109" y="1828800"/>
                  <a:pt x="2867025" y="1828800"/>
                </a:cubicBezTo>
                <a:lnTo>
                  <a:pt x="114300" y="1828800"/>
                </a:lnTo>
                <a:cubicBezTo>
                  <a:pt x="51216" y="1828800"/>
                  <a:pt x="0" y="1777584"/>
                  <a:pt x="0" y="17145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702040" y="4190884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Возможности API: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712945" y="4648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8968740" y="4571884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Программный доступ к анализу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712945" y="49528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8965406" y="4800484"/>
            <a:ext cx="2409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с другими системами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712945" y="52957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8965406" y="5257684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формат ответа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1910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Метрики успеха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мы измеряем результат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3644265" cy="5053965"/>
          </a:xfrm>
          <a:custGeom>
            <a:avLst/>
            <a:gdLst/>
            <a:ahLst/>
            <a:cxnLst/>
            <a:rect l="l" t="t" r="r" b="b"/>
            <a:pathLst>
              <a:path w="3644265" h="5053965">
                <a:moveTo>
                  <a:pt x="152403" y="0"/>
                </a:moveTo>
                <a:lnTo>
                  <a:pt x="3491862" y="0"/>
                </a:lnTo>
                <a:cubicBezTo>
                  <a:pt x="3576032" y="0"/>
                  <a:pt x="3644265" y="68233"/>
                  <a:pt x="3644265" y="152403"/>
                </a:cubicBezTo>
                <a:lnTo>
                  <a:pt x="3644265" y="4901562"/>
                </a:lnTo>
                <a:cubicBezTo>
                  <a:pt x="3644265" y="4985732"/>
                  <a:pt x="3576032" y="5053965"/>
                  <a:pt x="3491862" y="5053965"/>
                </a:cubicBezTo>
                <a:lnTo>
                  <a:pt x="152403" y="5053965"/>
                </a:lnTo>
                <a:cubicBezTo>
                  <a:pt x="68233" y="5053965"/>
                  <a:pt x="0" y="4985732"/>
                  <a:pt x="0" y="490156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F43F5E">
                  <a:alpha val="5000"/>
                </a:srgbClr>
              </a:gs>
            </a:gsLst>
            <a:lin ang="2700000" scaled="1"/>
          </a:gradFill>
          <a:ln w="2032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840" y="16535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815340" y="18440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86840" y="1805941"/>
            <a:ext cx="1419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Метрики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40" y="2453641"/>
            <a:ext cx="3171825" cy="1257300"/>
          </a:xfrm>
          <a:custGeom>
            <a:avLst/>
            <a:gdLst/>
            <a:ahLst/>
            <a:cxnLst/>
            <a:rect l="l" t="t" r="r" b="b"/>
            <a:pathLst>
              <a:path w="3171825" h="1257300">
                <a:moveTo>
                  <a:pt x="114301" y="0"/>
                </a:moveTo>
                <a:lnTo>
                  <a:pt x="3057524" y="0"/>
                </a:lnTo>
                <a:cubicBezTo>
                  <a:pt x="3120608" y="0"/>
                  <a:pt x="3171825" y="51217"/>
                  <a:pt x="3171825" y="114301"/>
                </a:cubicBezTo>
                <a:lnTo>
                  <a:pt x="3171825" y="1142999"/>
                </a:lnTo>
                <a:cubicBezTo>
                  <a:pt x="3171825" y="1206083"/>
                  <a:pt x="3120608" y="1257300"/>
                  <a:pt x="305752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15340" y="2682241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23567" y="2644141"/>
            <a:ext cx="923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85%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340" y="3101341"/>
            <a:ext cx="2790825" cy="152400"/>
          </a:xfrm>
          <a:custGeom>
            <a:avLst/>
            <a:gdLst/>
            <a:ahLst/>
            <a:cxnLst/>
            <a:rect l="l" t="t" r="r" b="b"/>
            <a:pathLst>
              <a:path w="2790825" h="152400">
                <a:moveTo>
                  <a:pt x="76200" y="0"/>
                </a:moveTo>
                <a:lnTo>
                  <a:pt x="2714625" y="0"/>
                </a:lnTo>
                <a:cubicBezTo>
                  <a:pt x="2756681" y="0"/>
                  <a:pt x="2790825" y="34144"/>
                  <a:pt x="2790825" y="76200"/>
                </a:cubicBezTo>
                <a:lnTo>
                  <a:pt x="2790825" y="76200"/>
                </a:lnTo>
                <a:cubicBezTo>
                  <a:pt x="2790825" y="118256"/>
                  <a:pt x="2756681" y="152400"/>
                  <a:pt x="2714625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75569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15340" y="3101341"/>
            <a:ext cx="2371725" cy="152400"/>
          </a:xfrm>
          <a:custGeom>
            <a:avLst/>
            <a:gdLst/>
            <a:ahLst/>
            <a:cxnLst/>
            <a:rect l="l" t="t" r="r" b="b"/>
            <a:pathLst>
              <a:path w="2371725" h="152400">
                <a:moveTo>
                  <a:pt x="76200" y="0"/>
                </a:moveTo>
                <a:lnTo>
                  <a:pt x="2295525" y="0"/>
                </a:lnTo>
                <a:cubicBezTo>
                  <a:pt x="2337581" y="0"/>
                  <a:pt x="2371725" y="34144"/>
                  <a:pt x="2371725" y="76200"/>
                </a:cubicBezTo>
                <a:lnTo>
                  <a:pt x="2371725" y="76200"/>
                </a:lnTo>
                <a:cubicBezTo>
                  <a:pt x="2371725" y="118256"/>
                  <a:pt x="2337581" y="152400"/>
                  <a:pt x="2295525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/>
              </a:gs>
              <a:gs pos="100000">
                <a:srgbClr val="F43F5E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815340" y="332994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Общая точность модели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40" y="3863341"/>
            <a:ext cx="3171825" cy="1257300"/>
          </a:xfrm>
          <a:custGeom>
            <a:avLst/>
            <a:gdLst/>
            <a:ahLst/>
            <a:cxnLst/>
            <a:rect l="l" t="t" r="r" b="b"/>
            <a:pathLst>
              <a:path w="3171825" h="1257300">
                <a:moveTo>
                  <a:pt x="114301" y="0"/>
                </a:moveTo>
                <a:lnTo>
                  <a:pt x="3057524" y="0"/>
                </a:lnTo>
                <a:cubicBezTo>
                  <a:pt x="3120608" y="0"/>
                  <a:pt x="3171825" y="51217"/>
                  <a:pt x="3171825" y="114301"/>
                </a:cubicBezTo>
                <a:lnTo>
                  <a:pt x="3171825" y="1142999"/>
                </a:lnTo>
                <a:cubicBezTo>
                  <a:pt x="3171825" y="1206083"/>
                  <a:pt x="3120608" y="1257300"/>
                  <a:pt x="305752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15340" y="4091941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4396" y="4053841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0.80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5340" y="4511041"/>
            <a:ext cx="2790825" cy="152400"/>
          </a:xfrm>
          <a:custGeom>
            <a:avLst/>
            <a:gdLst/>
            <a:ahLst/>
            <a:cxnLst/>
            <a:rect l="l" t="t" r="r" b="b"/>
            <a:pathLst>
              <a:path w="2790825" h="152400">
                <a:moveTo>
                  <a:pt x="76200" y="0"/>
                </a:moveTo>
                <a:lnTo>
                  <a:pt x="2714625" y="0"/>
                </a:lnTo>
                <a:cubicBezTo>
                  <a:pt x="2756681" y="0"/>
                  <a:pt x="2790825" y="34144"/>
                  <a:pt x="2790825" y="76200"/>
                </a:cubicBezTo>
                <a:lnTo>
                  <a:pt x="2790825" y="76200"/>
                </a:lnTo>
                <a:cubicBezTo>
                  <a:pt x="2790825" y="118256"/>
                  <a:pt x="2756681" y="152400"/>
                  <a:pt x="2714625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75569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5340" y="4511041"/>
            <a:ext cx="2228850" cy="152400"/>
          </a:xfrm>
          <a:custGeom>
            <a:avLst/>
            <a:gdLst/>
            <a:ahLst/>
            <a:cxnLst/>
            <a:rect l="l" t="t" r="r" b="b"/>
            <a:pathLst>
              <a:path w="2228850" h="152400">
                <a:moveTo>
                  <a:pt x="76200" y="0"/>
                </a:moveTo>
                <a:lnTo>
                  <a:pt x="2152650" y="0"/>
                </a:lnTo>
                <a:cubicBezTo>
                  <a:pt x="2194706" y="0"/>
                  <a:pt x="2228850" y="34144"/>
                  <a:pt x="2228850" y="76200"/>
                </a:cubicBezTo>
                <a:lnTo>
                  <a:pt x="2228850" y="76200"/>
                </a:lnTo>
                <a:cubicBezTo>
                  <a:pt x="2228850" y="118256"/>
                  <a:pt x="2194706" y="152400"/>
                  <a:pt x="215265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/>
              </a:gs>
              <a:gs pos="100000">
                <a:srgbClr val="F43F5E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815340" y="473964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Баланс precision и recall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74820" y="1417320"/>
            <a:ext cx="3644265" cy="5053965"/>
          </a:xfrm>
          <a:custGeom>
            <a:avLst/>
            <a:gdLst/>
            <a:ahLst/>
            <a:cxnLst/>
            <a:rect l="l" t="t" r="r" b="b"/>
            <a:pathLst>
              <a:path w="3644265" h="5053965">
                <a:moveTo>
                  <a:pt x="152403" y="0"/>
                </a:moveTo>
                <a:lnTo>
                  <a:pt x="3491862" y="0"/>
                </a:lnTo>
                <a:cubicBezTo>
                  <a:pt x="3576032" y="0"/>
                  <a:pt x="3644265" y="68233"/>
                  <a:pt x="3644265" y="152403"/>
                </a:cubicBezTo>
                <a:lnTo>
                  <a:pt x="3644265" y="4901562"/>
                </a:lnTo>
                <a:cubicBezTo>
                  <a:pt x="3644265" y="4985732"/>
                  <a:pt x="3576032" y="5053965"/>
                  <a:pt x="3491862" y="5053965"/>
                </a:cubicBezTo>
                <a:lnTo>
                  <a:pt x="152403" y="5053965"/>
                </a:lnTo>
                <a:cubicBezTo>
                  <a:pt x="68233" y="5053965"/>
                  <a:pt x="0" y="4985732"/>
                  <a:pt x="0" y="490156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2032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1040" y="16535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1540" y="18440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273040" y="1805941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Продуктовые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1040" y="2453641"/>
            <a:ext cx="3171825" cy="1371600"/>
          </a:xfrm>
          <a:custGeom>
            <a:avLst/>
            <a:gdLst/>
            <a:ahLst/>
            <a:cxnLst/>
            <a:rect l="l" t="t" r="r" b="b"/>
            <a:pathLst>
              <a:path w="3171825" h="1371600">
                <a:moveTo>
                  <a:pt x="114295" y="0"/>
                </a:moveTo>
                <a:lnTo>
                  <a:pt x="3057530" y="0"/>
                </a:lnTo>
                <a:cubicBezTo>
                  <a:pt x="3120611" y="0"/>
                  <a:pt x="3171825" y="51214"/>
                  <a:pt x="3171825" y="114295"/>
                </a:cubicBezTo>
                <a:lnTo>
                  <a:pt x="3171825" y="1257305"/>
                </a:lnTo>
                <a:cubicBezTo>
                  <a:pt x="3171825" y="1320386"/>
                  <a:pt x="3120611" y="1371600"/>
                  <a:pt x="305753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30115" y="26631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1590" y="2644141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анализа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1540" y="3025141"/>
            <a:ext cx="2933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≤ 5 сек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1540" y="344424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загрузки до результата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11040" y="3977641"/>
            <a:ext cx="3171825" cy="1371600"/>
          </a:xfrm>
          <a:custGeom>
            <a:avLst/>
            <a:gdLst/>
            <a:ahLst/>
            <a:cxnLst/>
            <a:rect l="l" t="t" r="r" b="b"/>
            <a:pathLst>
              <a:path w="3171825" h="1371600">
                <a:moveTo>
                  <a:pt x="114295" y="0"/>
                </a:moveTo>
                <a:lnTo>
                  <a:pt x="3057530" y="0"/>
                </a:lnTo>
                <a:cubicBezTo>
                  <a:pt x="3120611" y="0"/>
                  <a:pt x="3171825" y="51214"/>
                  <a:pt x="3171825" y="114295"/>
                </a:cubicBezTo>
                <a:lnTo>
                  <a:pt x="3171825" y="1257305"/>
                </a:lnTo>
                <a:cubicBezTo>
                  <a:pt x="3171825" y="1320386"/>
                  <a:pt x="3120611" y="1371600"/>
                  <a:pt x="305753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44403" y="418719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4513" y="1116"/>
                </a:moveTo>
                <a:cubicBezTo>
                  <a:pt x="38130" y="-714"/>
                  <a:pt x="42505" y="-313"/>
                  <a:pt x="45720" y="2143"/>
                </a:cubicBezTo>
                <a:lnTo>
                  <a:pt x="188595" y="109255"/>
                </a:lnTo>
                <a:cubicBezTo>
                  <a:pt x="192301" y="112023"/>
                  <a:pt x="193774" y="116845"/>
                  <a:pt x="192345" y="121221"/>
                </a:cubicBezTo>
                <a:cubicBezTo>
                  <a:pt x="190917" y="125596"/>
                  <a:pt x="186809" y="128543"/>
                  <a:pt x="182166" y="128543"/>
                </a:cubicBezTo>
                <a:lnTo>
                  <a:pt x="114166" y="128543"/>
                </a:lnTo>
                <a:lnTo>
                  <a:pt x="153859" y="207883"/>
                </a:lnTo>
                <a:cubicBezTo>
                  <a:pt x="157386" y="214938"/>
                  <a:pt x="154528" y="223510"/>
                  <a:pt x="147474" y="227037"/>
                </a:cubicBezTo>
                <a:cubicBezTo>
                  <a:pt x="140419" y="230565"/>
                  <a:pt x="131847" y="227707"/>
                  <a:pt x="128320" y="220653"/>
                </a:cubicBezTo>
                <a:lnTo>
                  <a:pt x="88627" y="141312"/>
                </a:lnTo>
                <a:lnTo>
                  <a:pt x="47863" y="195694"/>
                </a:lnTo>
                <a:cubicBezTo>
                  <a:pt x="45095" y="199400"/>
                  <a:pt x="40273" y="200873"/>
                  <a:pt x="35897" y="199445"/>
                </a:cubicBezTo>
                <a:cubicBezTo>
                  <a:pt x="31522" y="198016"/>
                  <a:pt x="28575" y="193908"/>
                  <a:pt x="28575" y="189309"/>
                </a:cubicBezTo>
                <a:lnTo>
                  <a:pt x="28575" y="10716"/>
                </a:lnTo>
                <a:cubicBezTo>
                  <a:pt x="28575" y="6653"/>
                  <a:pt x="30852" y="2947"/>
                  <a:pt x="34513" y="111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5101590" y="4168141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Шаги до результата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01540" y="4549141"/>
            <a:ext cx="2933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1–2 шага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01540" y="496824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Минимальный пользовательский путь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61020" y="1417320"/>
            <a:ext cx="3644265" cy="5053965"/>
          </a:xfrm>
          <a:custGeom>
            <a:avLst/>
            <a:gdLst/>
            <a:ahLst/>
            <a:cxnLst/>
            <a:rect l="l" t="t" r="r" b="b"/>
            <a:pathLst>
              <a:path w="3644265" h="5053965">
                <a:moveTo>
                  <a:pt x="152403" y="0"/>
                </a:moveTo>
                <a:lnTo>
                  <a:pt x="3491862" y="0"/>
                </a:lnTo>
                <a:cubicBezTo>
                  <a:pt x="3576032" y="0"/>
                  <a:pt x="3644265" y="68233"/>
                  <a:pt x="3644265" y="152403"/>
                </a:cubicBezTo>
                <a:lnTo>
                  <a:pt x="3644265" y="4901562"/>
                </a:lnTo>
                <a:cubicBezTo>
                  <a:pt x="3644265" y="4985732"/>
                  <a:pt x="3576032" y="5053965"/>
                  <a:pt x="3491862" y="5053965"/>
                </a:cubicBezTo>
                <a:lnTo>
                  <a:pt x="152403" y="5053965"/>
                </a:lnTo>
                <a:cubicBezTo>
                  <a:pt x="68233" y="5053965"/>
                  <a:pt x="0" y="4985732"/>
                  <a:pt x="0" y="490156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75569">
                  <a:alpha val="40000"/>
                </a:srgbClr>
              </a:gs>
              <a:gs pos="100000">
                <a:srgbClr val="475569">
                  <a:alpha val="20000"/>
                </a:srgbClr>
              </a:gs>
            </a:gsLst>
            <a:lin ang="2700000" scaled="1"/>
          </a:gradFill>
          <a:ln w="20320">
            <a:solidFill>
              <a:srgbClr val="475569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97240" y="16535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7" name="Shape 35"/>
          <p:cNvSpPr/>
          <p:nvPr/>
        </p:nvSpPr>
        <p:spPr>
          <a:xfrm>
            <a:off x="8602028" y="18440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9159240" y="1805941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Технические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97240" y="2453641"/>
            <a:ext cx="3171825" cy="1371600"/>
          </a:xfrm>
          <a:custGeom>
            <a:avLst/>
            <a:gdLst/>
            <a:ahLst/>
            <a:cxnLst/>
            <a:rect l="l" t="t" r="r" b="b"/>
            <a:pathLst>
              <a:path w="3171825" h="1371600">
                <a:moveTo>
                  <a:pt x="114295" y="0"/>
                </a:moveTo>
                <a:lnTo>
                  <a:pt x="3057530" y="0"/>
                </a:lnTo>
                <a:cubicBezTo>
                  <a:pt x="3120611" y="0"/>
                  <a:pt x="3171825" y="51214"/>
                  <a:pt x="3171825" y="114295"/>
                </a:cubicBezTo>
                <a:lnTo>
                  <a:pt x="3171825" y="1257305"/>
                </a:lnTo>
                <a:cubicBezTo>
                  <a:pt x="3171825" y="1320386"/>
                  <a:pt x="3120611" y="1371600"/>
                  <a:pt x="305753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630603" y="266319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8987790" y="2644141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7740" y="3025141"/>
            <a:ext cx="2933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 сек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7740" y="344424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ответа API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97240" y="3977641"/>
            <a:ext cx="3171825" cy="1371600"/>
          </a:xfrm>
          <a:custGeom>
            <a:avLst/>
            <a:gdLst/>
            <a:ahLst/>
            <a:cxnLst/>
            <a:rect l="l" t="t" r="r" b="b"/>
            <a:pathLst>
              <a:path w="3171825" h="1371600">
                <a:moveTo>
                  <a:pt x="114295" y="0"/>
                </a:moveTo>
                <a:lnTo>
                  <a:pt x="3057530" y="0"/>
                </a:lnTo>
                <a:cubicBezTo>
                  <a:pt x="3120611" y="0"/>
                  <a:pt x="3171825" y="51214"/>
                  <a:pt x="3171825" y="114295"/>
                </a:cubicBezTo>
                <a:lnTo>
                  <a:pt x="3171825" y="1257305"/>
                </a:lnTo>
                <a:cubicBezTo>
                  <a:pt x="3171825" y="1320386"/>
                  <a:pt x="3120611" y="1371600"/>
                  <a:pt x="305753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616315" y="41871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8987790" y="4168141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Uptime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87740" y="4549141"/>
            <a:ext cx="2933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95%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87740" y="4968241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Доступность сервиса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349842"/>
            <a:ext cx="69968" cy="419811"/>
          </a:xfrm>
          <a:custGeom>
            <a:avLst/>
            <a:gdLst/>
            <a:ahLst/>
            <a:cxnLst/>
            <a:rect l="l" t="t" r="r" b="b"/>
            <a:pathLst>
              <a:path w="69968" h="419811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84826"/>
                </a:lnTo>
                <a:cubicBezTo>
                  <a:pt x="69968" y="404148"/>
                  <a:pt x="54305" y="419811"/>
                  <a:pt x="34984" y="419811"/>
                </a:cubicBezTo>
                <a:lnTo>
                  <a:pt x="34984" y="419811"/>
                </a:lnTo>
                <a:cubicBezTo>
                  <a:pt x="15663" y="419811"/>
                  <a:pt x="0" y="404148"/>
                  <a:pt x="0" y="38482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524763" y="384826"/>
            <a:ext cx="3148580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Риски и ограничения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4763" y="874605"/>
            <a:ext cx="11404855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нужно учитывать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41" y="1297914"/>
            <a:ext cx="5630710" cy="2875703"/>
          </a:xfrm>
          <a:custGeom>
            <a:avLst/>
            <a:gdLst/>
            <a:ahLst/>
            <a:cxnLst/>
            <a:rect l="l" t="t" r="r" b="b"/>
            <a:pathLst>
              <a:path w="5630710" h="2875703">
                <a:moveTo>
                  <a:pt x="139932" y="0"/>
                </a:moveTo>
                <a:lnTo>
                  <a:pt x="5490778" y="0"/>
                </a:lnTo>
                <a:cubicBezTo>
                  <a:pt x="5568009" y="0"/>
                  <a:pt x="5630710" y="62701"/>
                  <a:pt x="5630710" y="139932"/>
                </a:cubicBezTo>
                <a:lnTo>
                  <a:pt x="5630710" y="2735771"/>
                </a:lnTo>
                <a:cubicBezTo>
                  <a:pt x="5630710" y="2813053"/>
                  <a:pt x="5568060" y="2875703"/>
                  <a:pt x="5490778" y="2875703"/>
                </a:cubicBezTo>
                <a:lnTo>
                  <a:pt x="139932" y="2875703"/>
                </a:lnTo>
                <a:cubicBezTo>
                  <a:pt x="62701" y="2875703"/>
                  <a:pt x="0" y="2813001"/>
                  <a:pt x="0" y="2735771"/>
                </a:cubicBezTo>
                <a:lnTo>
                  <a:pt x="0" y="139932"/>
                </a:lnTo>
                <a:cubicBezTo>
                  <a:pt x="0" y="62701"/>
                  <a:pt x="62701" y="0"/>
                  <a:pt x="13993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44" y="1511321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39937" y="0"/>
                </a:moveTo>
                <a:lnTo>
                  <a:pt x="419811" y="0"/>
                </a:lnTo>
                <a:cubicBezTo>
                  <a:pt x="497096" y="0"/>
                  <a:pt x="559747" y="62652"/>
                  <a:pt x="559747" y="139937"/>
                </a:cubicBezTo>
                <a:lnTo>
                  <a:pt x="559747" y="419811"/>
                </a:lnTo>
                <a:cubicBezTo>
                  <a:pt x="559747" y="497096"/>
                  <a:pt x="497096" y="559747"/>
                  <a:pt x="419811" y="559747"/>
                </a:cubicBezTo>
                <a:lnTo>
                  <a:pt x="139937" y="559747"/>
                </a:lnTo>
                <a:cubicBezTo>
                  <a:pt x="62652" y="559747"/>
                  <a:pt x="0" y="497096"/>
                  <a:pt x="0" y="419811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1665" y="1686242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04953" y="0"/>
                </a:moveTo>
                <a:cubicBezTo>
                  <a:pt x="110979" y="0"/>
                  <a:pt x="116514" y="3321"/>
                  <a:pt x="119384" y="8609"/>
                </a:cubicBezTo>
                <a:lnTo>
                  <a:pt x="207937" y="172598"/>
                </a:lnTo>
                <a:cubicBezTo>
                  <a:pt x="210684" y="177682"/>
                  <a:pt x="210561" y="183831"/>
                  <a:pt x="207609" y="188792"/>
                </a:cubicBezTo>
                <a:cubicBezTo>
                  <a:pt x="204658" y="193752"/>
                  <a:pt x="199287" y="196786"/>
                  <a:pt x="193506" y="196786"/>
                </a:cubicBezTo>
                <a:lnTo>
                  <a:pt x="16399" y="196786"/>
                </a:lnTo>
                <a:cubicBezTo>
                  <a:pt x="10618" y="196786"/>
                  <a:pt x="5289" y="193752"/>
                  <a:pt x="2296" y="188792"/>
                </a:cubicBezTo>
                <a:cubicBezTo>
                  <a:pt x="-697" y="183831"/>
                  <a:pt x="-779" y="177682"/>
                  <a:pt x="1968" y="172598"/>
                </a:cubicBezTo>
                <a:lnTo>
                  <a:pt x="90522" y="8609"/>
                </a:lnTo>
                <a:cubicBezTo>
                  <a:pt x="93391" y="3321"/>
                  <a:pt x="98926" y="0"/>
                  <a:pt x="104953" y="0"/>
                </a:cubicBezTo>
                <a:close/>
                <a:moveTo>
                  <a:pt x="104953" y="68875"/>
                </a:moveTo>
                <a:cubicBezTo>
                  <a:pt x="99500" y="68875"/>
                  <a:pt x="95113" y="73262"/>
                  <a:pt x="95113" y="78714"/>
                </a:cubicBezTo>
                <a:lnTo>
                  <a:pt x="95113" y="124631"/>
                </a:lnTo>
                <a:cubicBezTo>
                  <a:pt x="95113" y="130084"/>
                  <a:pt x="99500" y="134471"/>
                  <a:pt x="104953" y="134471"/>
                </a:cubicBezTo>
                <a:cubicBezTo>
                  <a:pt x="110405" y="134471"/>
                  <a:pt x="114792" y="130084"/>
                  <a:pt x="114792" y="124631"/>
                </a:cubicBezTo>
                <a:lnTo>
                  <a:pt x="114792" y="78714"/>
                </a:lnTo>
                <a:cubicBezTo>
                  <a:pt x="114792" y="73262"/>
                  <a:pt x="110405" y="68875"/>
                  <a:pt x="104953" y="68875"/>
                </a:cubicBezTo>
                <a:close/>
                <a:moveTo>
                  <a:pt x="115899" y="157429"/>
                </a:moveTo>
                <a:cubicBezTo>
                  <a:pt x="116148" y="153366"/>
                  <a:pt x="114122" y="149500"/>
                  <a:pt x="110639" y="147393"/>
                </a:cubicBezTo>
                <a:cubicBezTo>
                  <a:pt x="107155" y="145286"/>
                  <a:pt x="102791" y="145286"/>
                  <a:pt x="99308" y="147393"/>
                </a:cubicBezTo>
                <a:cubicBezTo>
                  <a:pt x="95825" y="149500"/>
                  <a:pt x="93798" y="153366"/>
                  <a:pt x="94047" y="157429"/>
                </a:cubicBezTo>
                <a:cubicBezTo>
                  <a:pt x="93798" y="161492"/>
                  <a:pt x="95825" y="165358"/>
                  <a:pt x="99308" y="167465"/>
                </a:cubicBezTo>
                <a:cubicBezTo>
                  <a:pt x="102791" y="169572"/>
                  <a:pt x="107155" y="169572"/>
                  <a:pt x="110639" y="167465"/>
                </a:cubicBezTo>
                <a:cubicBezTo>
                  <a:pt x="114122" y="165358"/>
                  <a:pt x="116148" y="161492"/>
                  <a:pt x="115899" y="157429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1266429" y="1651258"/>
            <a:ext cx="1023288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Риски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36" y="2245989"/>
            <a:ext cx="5186410" cy="804637"/>
          </a:xfrm>
          <a:custGeom>
            <a:avLst/>
            <a:gdLst/>
            <a:ahLst/>
            <a:cxnLst/>
            <a:rect l="l" t="t" r="r" b="b"/>
            <a:pathLst>
              <a:path w="5186410" h="804637">
                <a:moveTo>
                  <a:pt x="34984" y="0"/>
                </a:moveTo>
                <a:lnTo>
                  <a:pt x="5081462" y="0"/>
                </a:lnTo>
                <a:cubicBezTo>
                  <a:pt x="5139423" y="0"/>
                  <a:pt x="5186410" y="46987"/>
                  <a:pt x="5186410" y="104949"/>
                </a:cubicBezTo>
                <a:lnTo>
                  <a:pt x="5186410" y="699688"/>
                </a:lnTo>
                <a:cubicBezTo>
                  <a:pt x="5186410" y="757650"/>
                  <a:pt x="5139423" y="804637"/>
                  <a:pt x="5081462" y="804637"/>
                </a:cubicBezTo>
                <a:lnTo>
                  <a:pt x="34984" y="804637"/>
                </a:lnTo>
                <a:cubicBezTo>
                  <a:pt x="15663" y="804637"/>
                  <a:pt x="0" y="788974"/>
                  <a:pt x="0" y="769653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4236" y="2245989"/>
            <a:ext cx="34984" cy="804637"/>
          </a:xfrm>
          <a:custGeom>
            <a:avLst/>
            <a:gdLst/>
            <a:ahLst/>
            <a:cxnLst/>
            <a:rect l="l" t="t" r="r" b="b"/>
            <a:pathLst>
              <a:path w="34984" h="804637">
                <a:moveTo>
                  <a:pt x="34984" y="0"/>
                </a:moveTo>
                <a:lnTo>
                  <a:pt x="34984" y="0"/>
                </a:lnTo>
                <a:lnTo>
                  <a:pt x="34984" y="804637"/>
                </a:lnTo>
                <a:lnTo>
                  <a:pt x="34984" y="804637"/>
                </a:lnTo>
                <a:cubicBezTo>
                  <a:pt x="15663" y="804637"/>
                  <a:pt x="0" y="788974"/>
                  <a:pt x="0" y="769653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741665" y="2385926"/>
            <a:ext cx="496775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Переобучение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1665" y="2700784"/>
            <a:ext cx="495901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может плохо обобщаться на новые данные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236" y="3155579"/>
            <a:ext cx="5186410" cy="804637"/>
          </a:xfrm>
          <a:custGeom>
            <a:avLst/>
            <a:gdLst/>
            <a:ahLst/>
            <a:cxnLst/>
            <a:rect l="l" t="t" r="r" b="b"/>
            <a:pathLst>
              <a:path w="5186410" h="804637">
                <a:moveTo>
                  <a:pt x="34984" y="0"/>
                </a:moveTo>
                <a:lnTo>
                  <a:pt x="5081462" y="0"/>
                </a:lnTo>
                <a:cubicBezTo>
                  <a:pt x="5139423" y="0"/>
                  <a:pt x="5186410" y="46987"/>
                  <a:pt x="5186410" y="104949"/>
                </a:cubicBezTo>
                <a:lnTo>
                  <a:pt x="5186410" y="699688"/>
                </a:lnTo>
                <a:cubicBezTo>
                  <a:pt x="5186410" y="757650"/>
                  <a:pt x="5139423" y="804637"/>
                  <a:pt x="5081462" y="804637"/>
                </a:cubicBezTo>
                <a:lnTo>
                  <a:pt x="34984" y="804637"/>
                </a:lnTo>
                <a:cubicBezTo>
                  <a:pt x="15663" y="804637"/>
                  <a:pt x="0" y="788974"/>
                  <a:pt x="0" y="769653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4236" y="3155579"/>
            <a:ext cx="34984" cy="804637"/>
          </a:xfrm>
          <a:custGeom>
            <a:avLst/>
            <a:gdLst/>
            <a:ahLst/>
            <a:cxnLst/>
            <a:rect l="l" t="t" r="r" b="b"/>
            <a:pathLst>
              <a:path w="34984" h="804637">
                <a:moveTo>
                  <a:pt x="34984" y="0"/>
                </a:moveTo>
                <a:lnTo>
                  <a:pt x="34984" y="0"/>
                </a:lnTo>
                <a:lnTo>
                  <a:pt x="34984" y="804637"/>
                </a:lnTo>
                <a:lnTo>
                  <a:pt x="34984" y="804637"/>
                </a:lnTo>
                <a:cubicBezTo>
                  <a:pt x="15663" y="804637"/>
                  <a:pt x="0" y="788974"/>
                  <a:pt x="0" y="769653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741665" y="3295516"/>
            <a:ext cx="496775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Дисбаланс классов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1665" y="3610374"/>
            <a:ext cx="495901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Некоторые типы аритмий могут быть редкими в данных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3341" y="4355536"/>
            <a:ext cx="5630710" cy="1966113"/>
          </a:xfrm>
          <a:custGeom>
            <a:avLst/>
            <a:gdLst/>
            <a:ahLst/>
            <a:cxnLst/>
            <a:rect l="l" t="t" r="r" b="b"/>
            <a:pathLst>
              <a:path w="5630710" h="1966113">
                <a:moveTo>
                  <a:pt x="139928" y="0"/>
                </a:moveTo>
                <a:lnTo>
                  <a:pt x="5490782" y="0"/>
                </a:lnTo>
                <a:cubicBezTo>
                  <a:pt x="5568010" y="0"/>
                  <a:pt x="5630710" y="62700"/>
                  <a:pt x="5630710" y="139928"/>
                </a:cubicBezTo>
                <a:lnTo>
                  <a:pt x="5630710" y="1826185"/>
                </a:lnTo>
                <a:cubicBezTo>
                  <a:pt x="5630710" y="1903413"/>
                  <a:pt x="5568010" y="1966113"/>
                  <a:pt x="5490782" y="1966113"/>
                </a:cubicBezTo>
                <a:lnTo>
                  <a:pt x="139928" y="1966113"/>
                </a:lnTo>
                <a:cubicBezTo>
                  <a:pt x="62700" y="1966113"/>
                  <a:pt x="0" y="1903413"/>
                  <a:pt x="0" y="1826185"/>
                </a:cubicBezTo>
                <a:lnTo>
                  <a:pt x="0" y="139928"/>
                </a:lnTo>
                <a:cubicBezTo>
                  <a:pt x="0" y="62700"/>
                  <a:pt x="62700" y="0"/>
                  <a:pt x="139928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744" y="4568938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39937" y="0"/>
                </a:moveTo>
                <a:lnTo>
                  <a:pt x="419811" y="0"/>
                </a:lnTo>
                <a:cubicBezTo>
                  <a:pt x="497096" y="0"/>
                  <a:pt x="559747" y="62652"/>
                  <a:pt x="559747" y="139937"/>
                </a:cubicBezTo>
                <a:lnTo>
                  <a:pt x="559747" y="419811"/>
                </a:lnTo>
                <a:cubicBezTo>
                  <a:pt x="559747" y="497096"/>
                  <a:pt x="497096" y="559747"/>
                  <a:pt x="419811" y="559747"/>
                </a:cubicBezTo>
                <a:lnTo>
                  <a:pt x="139937" y="559747"/>
                </a:lnTo>
                <a:cubicBezTo>
                  <a:pt x="62652" y="559747"/>
                  <a:pt x="0" y="497096"/>
                  <a:pt x="0" y="419811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1665" y="4743859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04953" y="0"/>
                </a:moveTo>
                <a:cubicBezTo>
                  <a:pt x="106839" y="0"/>
                  <a:pt x="108724" y="410"/>
                  <a:pt x="110446" y="1189"/>
                </a:cubicBezTo>
                <a:lnTo>
                  <a:pt x="187685" y="33946"/>
                </a:lnTo>
                <a:cubicBezTo>
                  <a:pt x="196704" y="37758"/>
                  <a:pt x="203428" y="46655"/>
                  <a:pt x="203387" y="57396"/>
                </a:cubicBezTo>
                <a:cubicBezTo>
                  <a:pt x="203182" y="98065"/>
                  <a:pt x="186455" y="172475"/>
                  <a:pt x="115817" y="206298"/>
                </a:cubicBezTo>
                <a:cubicBezTo>
                  <a:pt x="108970" y="209577"/>
                  <a:pt x="101017" y="209577"/>
                  <a:pt x="94170" y="206298"/>
                </a:cubicBezTo>
                <a:cubicBezTo>
                  <a:pt x="23491" y="172475"/>
                  <a:pt x="6806" y="98065"/>
                  <a:pt x="6601" y="57396"/>
                </a:cubicBezTo>
                <a:cubicBezTo>
                  <a:pt x="6560" y="46655"/>
                  <a:pt x="13283" y="37758"/>
                  <a:pt x="22302" y="33946"/>
                </a:cubicBezTo>
                <a:lnTo>
                  <a:pt x="99500" y="1189"/>
                </a:lnTo>
                <a:cubicBezTo>
                  <a:pt x="101222" y="410"/>
                  <a:pt x="103067" y="0"/>
                  <a:pt x="104953" y="0"/>
                </a:cubicBezTo>
                <a:close/>
                <a:moveTo>
                  <a:pt x="104953" y="27386"/>
                </a:moveTo>
                <a:lnTo>
                  <a:pt x="104953" y="182396"/>
                </a:lnTo>
                <a:cubicBezTo>
                  <a:pt x="161529" y="155010"/>
                  <a:pt x="176739" y="94334"/>
                  <a:pt x="177108" y="58011"/>
                </a:cubicBezTo>
                <a:lnTo>
                  <a:pt x="104953" y="27427"/>
                </a:lnTo>
                <a:lnTo>
                  <a:pt x="104953" y="27427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1266429" y="4708875"/>
            <a:ext cx="202033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Продуктовые риски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36" y="5303607"/>
            <a:ext cx="5186410" cy="804637"/>
          </a:xfrm>
          <a:custGeom>
            <a:avLst/>
            <a:gdLst/>
            <a:ahLst/>
            <a:cxnLst/>
            <a:rect l="l" t="t" r="r" b="b"/>
            <a:pathLst>
              <a:path w="5186410" h="804637">
                <a:moveTo>
                  <a:pt x="34984" y="0"/>
                </a:moveTo>
                <a:lnTo>
                  <a:pt x="5081462" y="0"/>
                </a:lnTo>
                <a:cubicBezTo>
                  <a:pt x="5139423" y="0"/>
                  <a:pt x="5186410" y="46987"/>
                  <a:pt x="5186410" y="104949"/>
                </a:cubicBezTo>
                <a:lnTo>
                  <a:pt x="5186410" y="699688"/>
                </a:lnTo>
                <a:cubicBezTo>
                  <a:pt x="5186410" y="757650"/>
                  <a:pt x="5139423" y="804637"/>
                  <a:pt x="5081462" y="804637"/>
                </a:cubicBezTo>
                <a:lnTo>
                  <a:pt x="34984" y="804637"/>
                </a:lnTo>
                <a:cubicBezTo>
                  <a:pt x="15663" y="804637"/>
                  <a:pt x="0" y="788974"/>
                  <a:pt x="0" y="769653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4236" y="5303607"/>
            <a:ext cx="34984" cy="804637"/>
          </a:xfrm>
          <a:custGeom>
            <a:avLst/>
            <a:gdLst/>
            <a:ahLst/>
            <a:cxnLst/>
            <a:rect l="l" t="t" r="r" b="b"/>
            <a:pathLst>
              <a:path w="34984" h="804637">
                <a:moveTo>
                  <a:pt x="34984" y="0"/>
                </a:moveTo>
                <a:lnTo>
                  <a:pt x="34984" y="0"/>
                </a:lnTo>
                <a:lnTo>
                  <a:pt x="34984" y="804637"/>
                </a:lnTo>
                <a:lnTo>
                  <a:pt x="34984" y="804637"/>
                </a:lnTo>
                <a:cubicBezTo>
                  <a:pt x="15663" y="804637"/>
                  <a:pt x="0" y="788974"/>
                  <a:pt x="0" y="769653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741665" y="5443543"/>
            <a:ext cx="496775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Неверная интерпретация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1665" y="5758401"/>
            <a:ext cx="495901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Пользователи могут воспринимать результат как диагноз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0953" y="431400"/>
            <a:ext cx="5628961" cy="3258780"/>
          </a:xfrm>
          <a:custGeom>
            <a:avLst/>
            <a:gdLst/>
            <a:ahLst/>
            <a:cxnLst/>
            <a:rect l="l" t="t" r="r" b="b"/>
            <a:pathLst>
              <a:path w="5628961" h="3258780">
                <a:moveTo>
                  <a:pt x="139932" y="0"/>
                </a:moveTo>
                <a:lnTo>
                  <a:pt x="5489029" y="0"/>
                </a:lnTo>
                <a:cubicBezTo>
                  <a:pt x="5566311" y="0"/>
                  <a:pt x="5628961" y="62650"/>
                  <a:pt x="5628961" y="139932"/>
                </a:cubicBezTo>
                <a:lnTo>
                  <a:pt x="5628961" y="3118848"/>
                </a:lnTo>
                <a:cubicBezTo>
                  <a:pt x="5628961" y="3196130"/>
                  <a:pt x="5566311" y="3258780"/>
                  <a:pt x="5489029" y="3258780"/>
                </a:cubicBezTo>
                <a:lnTo>
                  <a:pt x="139932" y="3258780"/>
                </a:lnTo>
                <a:cubicBezTo>
                  <a:pt x="62650" y="3258780"/>
                  <a:pt x="0" y="3196130"/>
                  <a:pt x="0" y="3118848"/>
                </a:cubicBezTo>
                <a:lnTo>
                  <a:pt x="0" y="139932"/>
                </a:lnTo>
                <a:cubicBezTo>
                  <a:pt x="0" y="62701"/>
                  <a:pt x="62701" y="0"/>
                  <a:pt x="139932" y="0"/>
                </a:cubicBezTo>
                <a:close/>
              </a:path>
            </a:pathLst>
          </a:custGeom>
          <a:gradFill flip="none" rotWithShape="1">
            <a:gsLst>
              <a:gs pos="0">
                <a:srgbClr val="F43F5E">
                  <a:alpha val="20000"/>
                </a:srgbClr>
              </a:gs>
              <a:gs pos="100000">
                <a:srgbClr val="F43F5E">
                  <a:alpha val="5000"/>
                </a:srgbClr>
              </a:gs>
            </a:gsLst>
            <a:lin ang="2700000" scaled="1"/>
          </a:gradFill>
          <a:ln w="2032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7855" y="648303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39937" y="0"/>
                </a:moveTo>
                <a:lnTo>
                  <a:pt x="419811" y="0"/>
                </a:lnTo>
                <a:cubicBezTo>
                  <a:pt x="497096" y="0"/>
                  <a:pt x="559747" y="62652"/>
                  <a:pt x="559747" y="139937"/>
                </a:cubicBezTo>
                <a:lnTo>
                  <a:pt x="559747" y="419811"/>
                </a:lnTo>
                <a:cubicBezTo>
                  <a:pt x="559747" y="497096"/>
                  <a:pt x="497096" y="559747"/>
                  <a:pt x="419811" y="559747"/>
                </a:cubicBezTo>
                <a:lnTo>
                  <a:pt x="139937" y="559747"/>
                </a:lnTo>
                <a:cubicBezTo>
                  <a:pt x="62652" y="559747"/>
                  <a:pt x="0" y="497096"/>
                  <a:pt x="0" y="419811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66538" y="823224"/>
            <a:ext cx="262382" cy="209905"/>
          </a:xfrm>
          <a:custGeom>
            <a:avLst/>
            <a:gdLst/>
            <a:ahLst/>
            <a:cxnLst/>
            <a:rect l="l" t="t" r="r" b="b"/>
            <a:pathLst>
              <a:path w="262382" h="209905">
                <a:moveTo>
                  <a:pt x="157429" y="13119"/>
                </a:moveTo>
                <a:lnTo>
                  <a:pt x="209905" y="13119"/>
                </a:lnTo>
                <a:cubicBezTo>
                  <a:pt x="217162" y="13119"/>
                  <a:pt x="223024" y="18982"/>
                  <a:pt x="223024" y="26238"/>
                </a:cubicBezTo>
                <a:cubicBezTo>
                  <a:pt x="223024" y="33495"/>
                  <a:pt x="217162" y="39357"/>
                  <a:pt x="209905" y="39357"/>
                </a:cubicBezTo>
                <a:lnTo>
                  <a:pt x="163333" y="39357"/>
                </a:lnTo>
                <a:cubicBezTo>
                  <a:pt x="161201" y="49935"/>
                  <a:pt x="153944" y="58667"/>
                  <a:pt x="144310" y="62849"/>
                </a:cubicBezTo>
                <a:lnTo>
                  <a:pt x="144310" y="183667"/>
                </a:lnTo>
                <a:lnTo>
                  <a:pt x="209905" y="183667"/>
                </a:lnTo>
                <a:cubicBezTo>
                  <a:pt x="217162" y="183667"/>
                  <a:pt x="223024" y="189530"/>
                  <a:pt x="223024" y="196786"/>
                </a:cubicBezTo>
                <a:cubicBezTo>
                  <a:pt x="223024" y="204043"/>
                  <a:pt x="217162" y="209905"/>
                  <a:pt x="209905" y="209905"/>
                </a:cubicBezTo>
                <a:lnTo>
                  <a:pt x="52476" y="209905"/>
                </a:lnTo>
                <a:cubicBezTo>
                  <a:pt x="45220" y="209905"/>
                  <a:pt x="39357" y="204043"/>
                  <a:pt x="39357" y="196786"/>
                </a:cubicBezTo>
                <a:cubicBezTo>
                  <a:pt x="39357" y="189530"/>
                  <a:pt x="45220" y="183667"/>
                  <a:pt x="52476" y="183667"/>
                </a:cubicBezTo>
                <a:lnTo>
                  <a:pt x="118072" y="183667"/>
                </a:lnTo>
                <a:lnTo>
                  <a:pt x="118072" y="62849"/>
                </a:lnTo>
                <a:cubicBezTo>
                  <a:pt x="108437" y="58626"/>
                  <a:pt x="101181" y="49894"/>
                  <a:pt x="99049" y="39357"/>
                </a:cubicBezTo>
                <a:lnTo>
                  <a:pt x="52476" y="39357"/>
                </a:lnTo>
                <a:cubicBezTo>
                  <a:pt x="45220" y="39357"/>
                  <a:pt x="39357" y="33495"/>
                  <a:pt x="39357" y="26238"/>
                </a:cubicBezTo>
                <a:cubicBezTo>
                  <a:pt x="39357" y="18982"/>
                  <a:pt x="45220" y="13119"/>
                  <a:pt x="52476" y="13119"/>
                </a:cubicBezTo>
                <a:lnTo>
                  <a:pt x="104953" y="13119"/>
                </a:lnTo>
                <a:cubicBezTo>
                  <a:pt x="110938" y="5166"/>
                  <a:pt x="120450" y="0"/>
                  <a:pt x="131191" y="0"/>
                </a:cubicBezTo>
                <a:cubicBezTo>
                  <a:pt x="141932" y="0"/>
                  <a:pt x="151443" y="5166"/>
                  <a:pt x="157429" y="13119"/>
                </a:cubicBezTo>
                <a:close/>
                <a:moveTo>
                  <a:pt x="180223" y="131191"/>
                </a:moveTo>
                <a:lnTo>
                  <a:pt x="239587" y="131191"/>
                </a:lnTo>
                <a:lnTo>
                  <a:pt x="209905" y="80272"/>
                </a:lnTo>
                <a:lnTo>
                  <a:pt x="180223" y="131191"/>
                </a:lnTo>
                <a:close/>
                <a:moveTo>
                  <a:pt x="209905" y="170548"/>
                </a:moveTo>
                <a:cubicBezTo>
                  <a:pt x="184118" y="170548"/>
                  <a:pt x="162677" y="156609"/>
                  <a:pt x="158249" y="138201"/>
                </a:cubicBezTo>
                <a:cubicBezTo>
                  <a:pt x="157183" y="133692"/>
                  <a:pt x="158659" y="129059"/>
                  <a:pt x="160996" y="125041"/>
                </a:cubicBezTo>
                <a:lnTo>
                  <a:pt x="200025" y="58134"/>
                </a:lnTo>
                <a:cubicBezTo>
                  <a:pt x="202075" y="54608"/>
                  <a:pt x="205847" y="52476"/>
                  <a:pt x="209905" y="52476"/>
                </a:cubicBezTo>
                <a:cubicBezTo>
                  <a:pt x="213964" y="52476"/>
                  <a:pt x="217736" y="54649"/>
                  <a:pt x="219786" y="58134"/>
                </a:cubicBezTo>
                <a:lnTo>
                  <a:pt x="258815" y="125041"/>
                </a:lnTo>
                <a:cubicBezTo>
                  <a:pt x="261152" y="129059"/>
                  <a:pt x="262628" y="133692"/>
                  <a:pt x="261562" y="138201"/>
                </a:cubicBezTo>
                <a:cubicBezTo>
                  <a:pt x="257134" y="156568"/>
                  <a:pt x="235693" y="170548"/>
                  <a:pt x="209905" y="170548"/>
                </a:cubicBezTo>
                <a:close/>
                <a:moveTo>
                  <a:pt x="51984" y="80272"/>
                </a:moveTo>
                <a:lnTo>
                  <a:pt x="22302" y="131191"/>
                </a:lnTo>
                <a:lnTo>
                  <a:pt x="81707" y="131191"/>
                </a:lnTo>
                <a:lnTo>
                  <a:pt x="51984" y="80272"/>
                </a:lnTo>
                <a:close/>
                <a:moveTo>
                  <a:pt x="369" y="138201"/>
                </a:moveTo>
                <a:cubicBezTo>
                  <a:pt x="-697" y="133692"/>
                  <a:pt x="779" y="129059"/>
                  <a:pt x="3116" y="125041"/>
                </a:cubicBezTo>
                <a:lnTo>
                  <a:pt x="42145" y="58134"/>
                </a:lnTo>
                <a:cubicBezTo>
                  <a:pt x="44195" y="54608"/>
                  <a:pt x="47967" y="52476"/>
                  <a:pt x="52025" y="52476"/>
                </a:cubicBezTo>
                <a:cubicBezTo>
                  <a:pt x="56084" y="52476"/>
                  <a:pt x="59856" y="54649"/>
                  <a:pt x="61906" y="58134"/>
                </a:cubicBezTo>
                <a:lnTo>
                  <a:pt x="100935" y="125041"/>
                </a:lnTo>
                <a:cubicBezTo>
                  <a:pt x="103272" y="129059"/>
                  <a:pt x="104748" y="133692"/>
                  <a:pt x="103682" y="138201"/>
                </a:cubicBezTo>
                <a:cubicBezTo>
                  <a:pt x="99254" y="156568"/>
                  <a:pt x="77813" y="170548"/>
                  <a:pt x="52025" y="170548"/>
                </a:cubicBezTo>
                <a:cubicBezTo>
                  <a:pt x="26238" y="170548"/>
                  <a:pt x="4797" y="156609"/>
                  <a:pt x="369" y="1382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117539" y="788240"/>
            <a:ext cx="2055323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Юридические риски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7855" y="1382971"/>
            <a:ext cx="5195156" cy="804637"/>
          </a:xfrm>
          <a:custGeom>
            <a:avLst/>
            <a:gdLst/>
            <a:ahLst/>
            <a:cxnLst/>
            <a:rect l="l" t="t" r="r" b="b"/>
            <a:pathLst>
              <a:path w="5195156" h="804637">
                <a:moveTo>
                  <a:pt x="104949" y="0"/>
                </a:moveTo>
                <a:lnTo>
                  <a:pt x="5090208" y="0"/>
                </a:lnTo>
                <a:cubicBezTo>
                  <a:pt x="5148169" y="0"/>
                  <a:pt x="5195156" y="46987"/>
                  <a:pt x="5195156" y="104949"/>
                </a:cubicBezTo>
                <a:lnTo>
                  <a:pt x="5195156" y="699688"/>
                </a:lnTo>
                <a:cubicBezTo>
                  <a:pt x="5195156" y="757650"/>
                  <a:pt x="5148169" y="804637"/>
                  <a:pt x="5090208" y="804637"/>
                </a:cubicBezTo>
                <a:lnTo>
                  <a:pt x="104949" y="804637"/>
                </a:lnTo>
                <a:cubicBezTo>
                  <a:pt x="46987" y="804637"/>
                  <a:pt x="0" y="757650"/>
                  <a:pt x="0" y="699688"/>
                </a:cubicBezTo>
                <a:lnTo>
                  <a:pt x="0" y="104949"/>
                </a:lnTo>
                <a:cubicBezTo>
                  <a:pt x="0" y="47026"/>
                  <a:pt x="47026" y="0"/>
                  <a:pt x="10494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10268" y="1592877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87461" y="174921"/>
                </a:moveTo>
                <a:cubicBezTo>
                  <a:pt x="135731" y="174921"/>
                  <a:pt x="174921" y="135731"/>
                  <a:pt x="174921" y="87461"/>
                </a:cubicBezTo>
                <a:cubicBezTo>
                  <a:pt x="174921" y="39190"/>
                  <a:pt x="135731" y="0"/>
                  <a:pt x="87461" y="0"/>
                </a:cubicBezTo>
                <a:cubicBezTo>
                  <a:pt x="39190" y="0"/>
                  <a:pt x="0" y="39190"/>
                  <a:pt x="0" y="87461"/>
                </a:cubicBezTo>
                <a:cubicBezTo>
                  <a:pt x="0" y="135731"/>
                  <a:pt x="39190" y="174921"/>
                  <a:pt x="87461" y="174921"/>
                </a:cubicBezTo>
                <a:close/>
                <a:moveTo>
                  <a:pt x="76528" y="54663"/>
                </a:moveTo>
                <a:cubicBezTo>
                  <a:pt x="76528" y="48629"/>
                  <a:pt x="81427" y="43730"/>
                  <a:pt x="87461" y="43730"/>
                </a:cubicBezTo>
                <a:cubicBezTo>
                  <a:pt x="93494" y="43730"/>
                  <a:pt x="98393" y="48629"/>
                  <a:pt x="98393" y="54663"/>
                </a:cubicBezTo>
                <a:cubicBezTo>
                  <a:pt x="98393" y="60697"/>
                  <a:pt x="93494" y="65595"/>
                  <a:pt x="87461" y="65595"/>
                </a:cubicBezTo>
                <a:cubicBezTo>
                  <a:pt x="81427" y="65595"/>
                  <a:pt x="76528" y="60697"/>
                  <a:pt x="76528" y="54663"/>
                </a:cubicBezTo>
                <a:close/>
                <a:moveTo>
                  <a:pt x="73795" y="76528"/>
                </a:moveTo>
                <a:lnTo>
                  <a:pt x="90194" y="76528"/>
                </a:lnTo>
                <a:cubicBezTo>
                  <a:pt x="94738" y="76528"/>
                  <a:pt x="98393" y="80184"/>
                  <a:pt x="98393" y="84727"/>
                </a:cubicBezTo>
                <a:lnTo>
                  <a:pt x="98393" y="114792"/>
                </a:lnTo>
                <a:lnTo>
                  <a:pt x="101126" y="114792"/>
                </a:lnTo>
                <a:cubicBezTo>
                  <a:pt x="105670" y="114792"/>
                  <a:pt x="109326" y="118448"/>
                  <a:pt x="109326" y="122991"/>
                </a:cubicBezTo>
                <a:cubicBezTo>
                  <a:pt x="109326" y="127535"/>
                  <a:pt x="105670" y="131191"/>
                  <a:pt x="101126" y="131191"/>
                </a:cubicBezTo>
                <a:lnTo>
                  <a:pt x="73795" y="131191"/>
                </a:lnTo>
                <a:cubicBezTo>
                  <a:pt x="69251" y="131191"/>
                  <a:pt x="65595" y="127535"/>
                  <a:pt x="65595" y="122991"/>
                </a:cubicBezTo>
                <a:cubicBezTo>
                  <a:pt x="65595" y="118448"/>
                  <a:pt x="69251" y="114792"/>
                  <a:pt x="73795" y="114792"/>
                </a:cubicBezTo>
                <a:lnTo>
                  <a:pt x="81994" y="114792"/>
                </a:lnTo>
                <a:lnTo>
                  <a:pt x="81994" y="92927"/>
                </a:lnTo>
                <a:lnTo>
                  <a:pt x="73795" y="92927"/>
                </a:lnTo>
                <a:cubicBezTo>
                  <a:pt x="69251" y="92927"/>
                  <a:pt x="65595" y="89271"/>
                  <a:pt x="65595" y="84727"/>
                </a:cubicBezTo>
                <a:cubicBezTo>
                  <a:pt x="65595" y="80184"/>
                  <a:pt x="69251" y="76528"/>
                  <a:pt x="73795" y="7652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698" y="1557893"/>
            <a:ext cx="4600425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медицинское устройство:</a:t>
            </a:r>
            <a:r>
              <a:rPr lang="en-US" sz="1102" dirty="0">
                <a:solidFill>
                  <a:srgbClr val="F1F5F9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Сервис не имеет медицинской сертификации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4851" y="2334542"/>
            <a:ext cx="5174166" cy="1133489"/>
          </a:xfrm>
          <a:custGeom>
            <a:avLst/>
            <a:gdLst/>
            <a:ahLst/>
            <a:cxnLst/>
            <a:rect l="l" t="t" r="r" b="b"/>
            <a:pathLst>
              <a:path w="5174166" h="1133489">
                <a:moveTo>
                  <a:pt x="104950" y="0"/>
                </a:moveTo>
                <a:lnTo>
                  <a:pt x="5069216" y="0"/>
                </a:lnTo>
                <a:cubicBezTo>
                  <a:pt x="5127178" y="0"/>
                  <a:pt x="5174166" y="46988"/>
                  <a:pt x="5174166" y="104950"/>
                </a:cubicBezTo>
                <a:lnTo>
                  <a:pt x="5174166" y="1028539"/>
                </a:lnTo>
                <a:cubicBezTo>
                  <a:pt x="5174166" y="1086501"/>
                  <a:pt x="5127178" y="1133489"/>
                  <a:pt x="5069216" y="1133489"/>
                </a:cubicBezTo>
                <a:lnTo>
                  <a:pt x="104950" y="1133489"/>
                </a:lnTo>
                <a:cubicBezTo>
                  <a:pt x="46988" y="1133489"/>
                  <a:pt x="0" y="1086501"/>
                  <a:pt x="0" y="1028539"/>
                </a:cubicBezTo>
                <a:lnTo>
                  <a:pt x="0" y="104950"/>
                </a:lnTo>
                <a:cubicBezTo>
                  <a:pt x="0" y="47026"/>
                  <a:pt x="47026" y="0"/>
                  <a:pt x="10495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20320">
            <a:solidFill>
              <a:srgbClr val="38BDF8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50500" y="2551445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0" y="21865"/>
                </a:moveTo>
                <a:cubicBezTo>
                  <a:pt x="0" y="9805"/>
                  <a:pt x="9805" y="0"/>
                  <a:pt x="21865" y="0"/>
                </a:cubicBezTo>
                <a:lnTo>
                  <a:pt x="72941" y="0"/>
                </a:lnTo>
                <a:cubicBezTo>
                  <a:pt x="78749" y="0"/>
                  <a:pt x="84317" y="2289"/>
                  <a:pt x="88417" y="6389"/>
                </a:cubicBezTo>
                <a:lnTo>
                  <a:pt x="124802" y="42808"/>
                </a:lnTo>
                <a:cubicBezTo>
                  <a:pt x="128902" y="46908"/>
                  <a:pt x="131191" y="52476"/>
                  <a:pt x="131191" y="58284"/>
                </a:cubicBezTo>
                <a:lnTo>
                  <a:pt x="131191" y="153056"/>
                </a:lnTo>
                <a:cubicBezTo>
                  <a:pt x="131191" y="165116"/>
                  <a:pt x="121386" y="174921"/>
                  <a:pt x="109326" y="174921"/>
                </a:cubicBezTo>
                <a:lnTo>
                  <a:pt x="21865" y="174921"/>
                </a:lnTo>
                <a:cubicBezTo>
                  <a:pt x="9805" y="174921"/>
                  <a:pt x="0" y="165116"/>
                  <a:pt x="0" y="153056"/>
                </a:cubicBezTo>
                <a:lnTo>
                  <a:pt x="0" y="21865"/>
                </a:lnTo>
                <a:close/>
                <a:moveTo>
                  <a:pt x="71062" y="19986"/>
                </a:moveTo>
                <a:lnTo>
                  <a:pt x="71062" y="51930"/>
                </a:lnTo>
                <a:cubicBezTo>
                  <a:pt x="71062" y="56474"/>
                  <a:pt x="74717" y="60129"/>
                  <a:pt x="79261" y="60129"/>
                </a:cubicBezTo>
                <a:lnTo>
                  <a:pt x="111205" y="60129"/>
                </a:lnTo>
                <a:lnTo>
                  <a:pt x="71062" y="19986"/>
                </a:lnTo>
                <a:close/>
                <a:moveTo>
                  <a:pt x="40997" y="87461"/>
                </a:moveTo>
                <a:cubicBezTo>
                  <a:pt x="36453" y="87461"/>
                  <a:pt x="32798" y="91116"/>
                  <a:pt x="32798" y="95660"/>
                </a:cubicBezTo>
                <a:cubicBezTo>
                  <a:pt x="32798" y="100204"/>
                  <a:pt x="36453" y="103859"/>
                  <a:pt x="40997" y="103859"/>
                </a:cubicBezTo>
                <a:lnTo>
                  <a:pt x="90194" y="103859"/>
                </a:lnTo>
                <a:cubicBezTo>
                  <a:pt x="94738" y="103859"/>
                  <a:pt x="98393" y="100204"/>
                  <a:pt x="98393" y="95660"/>
                </a:cubicBezTo>
                <a:cubicBezTo>
                  <a:pt x="98393" y="91116"/>
                  <a:pt x="94738" y="87461"/>
                  <a:pt x="90194" y="87461"/>
                </a:cubicBezTo>
                <a:lnTo>
                  <a:pt x="40997" y="87461"/>
                </a:lnTo>
                <a:close/>
                <a:moveTo>
                  <a:pt x="40997" y="120258"/>
                </a:moveTo>
                <a:cubicBezTo>
                  <a:pt x="36453" y="120258"/>
                  <a:pt x="32798" y="123914"/>
                  <a:pt x="32798" y="128458"/>
                </a:cubicBezTo>
                <a:cubicBezTo>
                  <a:pt x="32798" y="133002"/>
                  <a:pt x="36453" y="136657"/>
                  <a:pt x="40997" y="136657"/>
                </a:cubicBezTo>
                <a:lnTo>
                  <a:pt x="90194" y="136657"/>
                </a:lnTo>
                <a:cubicBezTo>
                  <a:pt x="94738" y="136657"/>
                  <a:pt x="98393" y="133002"/>
                  <a:pt x="98393" y="128458"/>
                </a:cubicBezTo>
                <a:cubicBezTo>
                  <a:pt x="98393" y="123914"/>
                  <a:pt x="94738" y="120258"/>
                  <a:pt x="90194" y="120258"/>
                </a:cubicBezTo>
                <a:lnTo>
                  <a:pt x="40997" y="12025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6930374" y="2516461"/>
            <a:ext cx="1609274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Требуется Disclaimer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6770" y="2866303"/>
            <a:ext cx="4880298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Необходимо чётко указать, что это инструмент поддержки врача, а не диагностическое устройство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7454" y="3877345"/>
            <a:ext cx="5630710" cy="2106050"/>
          </a:xfrm>
          <a:custGeom>
            <a:avLst/>
            <a:gdLst/>
            <a:ahLst/>
            <a:cxnLst/>
            <a:rect l="l" t="t" r="r" b="b"/>
            <a:pathLst>
              <a:path w="5630710" h="2106050">
                <a:moveTo>
                  <a:pt x="139947" y="0"/>
                </a:moveTo>
                <a:lnTo>
                  <a:pt x="5490763" y="0"/>
                </a:lnTo>
                <a:cubicBezTo>
                  <a:pt x="5568053" y="0"/>
                  <a:pt x="5630710" y="62656"/>
                  <a:pt x="5630710" y="139947"/>
                </a:cubicBezTo>
                <a:lnTo>
                  <a:pt x="5630710" y="1966103"/>
                </a:lnTo>
                <a:cubicBezTo>
                  <a:pt x="5630710" y="2043394"/>
                  <a:pt x="5568053" y="2106050"/>
                  <a:pt x="5490763" y="2106050"/>
                </a:cubicBezTo>
                <a:lnTo>
                  <a:pt x="139947" y="2106050"/>
                </a:lnTo>
                <a:cubicBezTo>
                  <a:pt x="62656" y="2106050"/>
                  <a:pt x="0" y="2043394"/>
                  <a:pt x="0" y="1966103"/>
                </a:cubicBezTo>
                <a:lnTo>
                  <a:pt x="0" y="139947"/>
                </a:lnTo>
                <a:cubicBezTo>
                  <a:pt x="0" y="62708"/>
                  <a:pt x="62708" y="0"/>
                  <a:pt x="13994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475569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0858" y="4090751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8" name="Shape 36"/>
          <p:cNvSpPr/>
          <p:nvPr/>
        </p:nvSpPr>
        <p:spPr>
          <a:xfrm>
            <a:off x="6568287" y="4248180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25451" y="140928"/>
                </a:moveTo>
                <a:lnTo>
                  <a:pt x="33993" y="49470"/>
                </a:lnTo>
                <a:cubicBezTo>
                  <a:pt x="26341" y="60197"/>
                  <a:pt x="21865" y="73317"/>
                  <a:pt x="21865" y="87461"/>
                </a:cubicBezTo>
                <a:cubicBezTo>
                  <a:pt x="21865" y="123675"/>
                  <a:pt x="51246" y="153056"/>
                  <a:pt x="87461" y="153056"/>
                </a:cubicBezTo>
                <a:cubicBezTo>
                  <a:pt x="101639" y="153056"/>
                  <a:pt x="114758" y="148580"/>
                  <a:pt x="125451" y="140928"/>
                </a:cubicBezTo>
                <a:close/>
                <a:moveTo>
                  <a:pt x="140928" y="125451"/>
                </a:moveTo>
                <a:cubicBezTo>
                  <a:pt x="148580" y="114724"/>
                  <a:pt x="153056" y="101605"/>
                  <a:pt x="153056" y="87461"/>
                </a:cubicBezTo>
                <a:cubicBezTo>
                  <a:pt x="153056" y="51246"/>
                  <a:pt x="123675" y="21865"/>
                  <a:pt x="87461" y="21865"/>
                </a:cubicBezTo>
                <a:cubicBezTo>
                  <a:pt x="73282" y="21865"/>
                  <a:pt x="60163" y="26341"/>
                  <a:pt x="49470" y="33993"/>
                </a:cubicBezTo>
                <a:lnTo>
                  <a:pt x="140928" y="125451"/>
                </a:lnTo>
                <a:close/>
                <a:moveTo>
                  <a:pt x="0" y="87461"/>
                </a:moveTo>
                <a:cubicBezTo>
                  <a:pt x="0" y="39190"/>
                  <a:pt x="39190" y="0"/>
                  <a:pt x="87461" y="0"/>
                </a:cubicBezTo>
                <a:cubicBezTo>
                  <a:pt x="135731" y="0"/>
                  <a:pt x="174921" y="39190"/>
                  <a:pt x="174921" y="87461"/>
                </a:cubicBezTo>
                <a:cubicBezTo>
                  <a:pt x="174921" y="135731"/>
                  <a:pt x="135731" y="174921"/>
                  <a:pt x="87461" y="174921"/>
                </a:cubicBezTo>
                <a:cubicBezTo>
                  <a:pt x="39190" y="174921"/>
                  <a:pt x="0" y="135731"/>
                  <a:pt x="0" y="87461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574" y="4213196"/>
            <a:ext cx="154805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Ограничения MVP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5842" y="4755451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15060" y="20061"/>
                </a:moveTo>
                <a:cubicBezTo>
                  <a:pt x="11643" y="16645"/>
                  <a:pt x="6095" y="16645"/>
                  <a:pt x="2678" y="20061"/>
                </a:cubicBezTo>
                <a:cubicBezTo>
                  <a:pt x="-738" y="23478"/>
                  <a:pt x="-738" y="29026"/>
                  <a:pt x="2678" y="32442"/>
                </a:cubicBezTo>
                <a:lnTo>
                  <a:pt x="40232" y="69968"/>
                </a:lnTo>
                <a:lnTo>
                  <a:pt x="2706" y="107522"/>
                </a:lnTo>
                <a:cubicBezTo>
                  <a:pt x="-711" y="110938"/>
                  <a:pt x="-711" y="116487"/>
                  <a:pt x="2706" y="119903"/>
                </a:cubicBezTo>
                <a:cubicBezTo>
                  <a:pt x="6122" y="123319"/>
                  <a:pt x="11671" y="123319"/>
                  <a:pt x="15087" y="119903"/>
                </a:cubicBezTo>
                <a:lnTo>
                  <a:pt x="52613" y="82350"/>
                </a:lnTo>
                <a:lnTo>
                  <a:pt x="90166" y="119876"/>
                </a:lnTo>
                <a:cubicBezTo>
                  <a:pt x="93583" y="123292"/>
                  <a:pt x="99131" y="123292"/>
                  <a:pt x="102547" y="119876"/>
                </a:cubicBezTo>
                <a:cubicBezTo>
                  <a:pt x="105964" y="116459"/>
                  <a:pt x="105964" y="110911"/>
                  <a:pt x="102547" y="107494"/>
                </a:cubicBezTo>
                <a:lnTo>
                  <a:pt x="64994" y="69968"/>
                </a:lnTo>
                <a:lnTo>
                  <a:pt x="102520" y="32415"/>
                </a:lnTo>
                <a:cubicBezTo>
                  <a:pt x="105937" y="28999"/>
                  <a:pt x="105937" y="23450"/>
                  <a:pt x="102520" y="20034"/>
                </a:cubicBezTo>
                <a:cubicBezTo>
                  <a:pt x="99104" y="16618"/>
                  <a:pt x="93555" y="16618"/>
                  <a:pt x="90139" y="20034"/>
                </a:cubicBezTo>
                <a:lnTo>
                  <a:pt x="52613" y="57587"/>
                </a:lnTo>
                <a:lnTo>
                  <a:pt x="15060" y="20061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41" name="Text 39"/>
          <p:cNvSpPr/>
          <p:nvPr/>
        </p:nvSpPr>
        <p:spPr>
          <a:xfrm>
            <a:off x="6655747" y="4720467"/>
            <a:ext cx="216027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медицинской сертификации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45842" y="5035325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15060" y="20061"/>
                </a:moveTo>
                <a:cubicBezTo>
                  <a:pt x="11643" y="16645"/>
                  <a:pt x="6095" y="16645"/>
                  <a:pt x="2678" y="20061"/>
                </a:cubicBezTo>
                <a:cubicBezTo>
                  <a:pt x="-738" y="23478"/>
                  <a:pt x="-738" y="29026"/>
                  <a:pt x="2678" y="32442"/>
                </a:cubicBezTo>
                <a:lnTo>
                  <a:pt x="40232" y="69968"/>
                </a:lnTo>
                <a:lnTo>
                  <a:pt x="2706" y="107522"/>
                </a:lnTo>
                <a:cubicBezTo>
                  <a:pt x="-711" y="110938"/>
                  <a:pt x="-711" y="116487"/>
                  <a:pt x="2706" y="119903"/>
                </a:cubicBezTo>
                <a:cubicBezTo>
                  <a:pt x="6122" y="123319"/>
                  <a:pt x="11671" y="123319"/>
                  <a:pt x="15087" y="119903"/>
                </a:cubicBezTo>
                <a:lnTo>
                  <a:pt x="52613" y="82350"/>
                </a:lnTo>
                <a:lnTo>
                  <a:pt x="90166" y="119876"/>
                </a:lnTo>
                <a:cubicBezTo>
                  <a:pt x="93583" y="123292"/>
                  <a:pt x="99131" y="123292"/>
                  <a:pt x="102547" y="119876"/>
                </a:cubicBezTo>
                <a:cubicBezTo>
                  <a:pt x="105964" y="116459"/>
                  <a:pt x="105964" y="110911"/>
                  <a:pt x="102547" y="107494"/>
                </a:cubicBezTo>
                <a:lnTo>
                  <a:pt x="64994" y="69968"/>
                </a:lnTo>
                <a:lnTo>
                  <a:pt x="102520" y="32415"/>
                </a:lnTo>
                <a:cubicBezTo>
                  <a:pt x="105937" y="28999"/>
                  <a:pt x="105937" y="23450"/>
                  <a:pt x="102520" y="20034"/>
                </a:cubicBezTo>
                <a:cubicBezTo>
                  <a:pt x="99104" y="16618"/>
                  <a:pt x="93555" y="16618"/>
                  <a:pt x="90139" y="20034"/>
                </a:cubicBezTo>
                <a:lnTo>
                  <a:pt x="52613" y="57587"/>
                </a:lnTo>
                <a:lnTo>
                  <a:pt x="15060" y="20061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43" name="Text 41"/>
          <p:cNvSpPr/>
          <p:nvPr/>
        </p:nvSpPr>
        <p:spPr>
          <a:xfrm>
            <a:off x="6655747" y="5000341"/>
            <a:ext cx="1399369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real-time данных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45842" y="5315198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15060" y="20061"/>
                </a:moveTo>
                <a:cubicBezTo>
                  <a:pt x="11643" y="16645"/>
                  <a:pt x="6095" y="16645"/>
                  <a:pt x="2678" y="20061"/>
                </a:cubicBezTo>
                <a:cubicBezTo>
                  <a:pt x="-738" y="23478"/>
                  <a:pt x="-738" y="29026"/>
                  <a:pt x="2678" y="32442"/>
                </a:cubicBezTo>
                <a:lnTo>
                  <a:pt x="40232" y="69968"/>
                </a:lnTo>
                <a:lnTo>
                  <a:pt x="2706" y="107522"/>
                </a:lnTo>
                <a:cubicBezTo>
                  <a:pt x="-711" y="110938"/>
                  <a:pt x="-711" y="116487"/>
                  <a:pt x="2706" y="119903"/>
                </a:cubicBezTo>
                <a:cubicBezTo>
                  <a:pt x="6122" y="123319"/>
                  <a:pt x="11671" y="123319"/>
                  <a:pt x="15087" y="119903"/>
                </a:cubicBezTo>
                <a:lnTo>
                  <a:pt x="52613" y="82350"/>
                </a:lnTo>
                <a:lnTo>
                  <a:pt x="90166" y="119876"/>
                </a:lnTo>
                <a:cubicBezTo>
                  <a:pt x="93583" y="123292"/>
                  <a:pt x="99131" y="123292"/>
                  <a:pt x="102547" y="119876"/>
                </a:cubicBezTo>
                <a:cubicBezTo>
                  <a:pt x="105964" y="116459"/>
                  <a:pt x="105964" y="110911"/>
                  <a:pt x="102547" y="107494"/>
                </a:cubicBezTo>
                <a:lnTo>
                  <a:pt x="64994" y="69968"/>
                </a:lnTo>
                <a:lnTo>
                  <a:pt x="102520" y="32415"/>
                </a:lnTo>
                <a:cubicBezTo>
                  <a:pt x="105937" y="28999"/>
                  <a:pt x="105937" y="23450"/>
                  <a:pt x="102520" y="20034"/>
                </a:cubicBezTo>
                <a:cubicBezTo>
                  <a:pt x="99104" y="16618"/>
                  <a:pt x="93555" y="16618"/>
                  <a:pt x="90139" y="20034"/>
                </a:cubicBezTo>
                <a:lnTo>
                  <a:pt x="52613" y="57587"/>
                </a:lnTo>
                <a:lnTo>
                  <a:pt x="15060" y="20061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45" name="Text 43"/>
          <p:cNvSpPr/>
          <p:nvPr/>
        </p:nvSpPr>
        <p:spPr>
          <a:xfrm>
            <a:off x="6655747" y="5280214"/>
            <a:ext cx="225648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интеграций с hospital systems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45842" y="5595072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15060" y="20061"/>
                </a:moveTo>
                <a:cubicBezTo>
                  <a:pt x="11643" y="16645"/>
                  <a:pt x="6095" y="16645"/>
                  <a:pt x="2678" y="20061"/>
                </a:cubicBezTo>
                <a:cubicBezTo>
                  <a:pt x="-738" y="23478"/>
                  <a:pt x="-738" y="29026"/>
                  <a:pt x="2678" y="32442"/>
                </a:cubicBezTo>
                <a:lnTo>
                  <a:pt x="40232" y="69968"/>
                </a:lnTo>
                <a:lnTo>
                  <a:pt x="2706" y="107522"/>
                </a:lnTo>
                <a:cubicBezTo>
                  <a:pt x="-711" y="110938"/>
                  <a:pt x="-711" y="116487"/>
                  <a:pt x="2706" y="119903"/>
                </a:cubicBezTo>
                <a:cubicBezTo>
                  <a:pt x="6122" y="123319"/>
                  <a:pt x="11671" y="123319"/>
                  <a:pt x="15087" y="119903"/>
                </a:cubicBezTo>
                <a:lnTo>
                  <a:pt x="52613" y="82350"/>
                </a:lnTo>
                <a:lnTo>
                  <a:pt x="90166" y="119876"/>
                </a:lnTo>
                <a:cubicBezTo>
                  <a:pt x="93583" y="123292"/>
                  <a:pt x="99131" y="123292"/>
                  <a:pt x="102547" y="119876"/>
                </a:cubicBezTo>
                <a:cubicBezTo>
                  <a:pt x="105964" y="116459"/>
                  <a:pt x="105964" y="110911"/>
                  <a:pt x="102547" y="107494"/>
                </a:cubicBezTo>
                <a:lnTo>
                  <a:pt x="64994" y="69968"/>
                </a:lnTo>
                <a:lnTo>
                  <a:pt x="102520" y="32415"/>
                </a:lnTo>
                <a:cubicBezTo>
                  <a:pt x="105937" y="28999"/>
                  <a:pt x="105937" y="23450"/>
                  <a:pt x="102520" y="20034"/>
                </a:cubicBezTo>
                <a:cubicBezTo>
                  <a:pt x="99104" y="16618"/>
                  <a:pt x="93555" y="16618"/>
                  <a:pt x="90139" y="20034"/>
                </a:cubicBezTo>
                <a:lnTo>
                  <a:pt x="52613" y="57587"/>
                </a:lnTo>
                <a:lnTo>
                  <a:pt x="15060" y="20061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47" name="Text 45"/>
          <p:cNvSpPr/>
          <p:nvPr/>
        </p:nvSpPr>
        <p:spPr>
          <a:xfrm>
            <a:off x="6655747" y="5560088"/>
            <a:ext cx="176670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Простая модель (baseline)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960a159d75b43fa09ae5421777fd1496ec3c2663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43837" b="43837"/>
          <a:stretch/>
        </p:blipFill>
        <p:spPr>
          <a:xfrm>
            <a:off x="0" y="4174240"/>
            <a:ext cx="12192000" cy="268152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57537" y="357537"/>
            <a:ext cx="71507" cy="429044"/>
          </a:xfrm>
          <a:custGeom>
            <a:avLst/>
            <a:gdLst/>
            <a:ahLst/>
            <a:cxnLst/>
            <a:rect l="l" t="t" r="r" b="b"/>
            <a:pathLst>
              <a:path w="71507" h="429044">
                <a:moveTo>
                  <a:pt x="35754" y="0"/>
                </a:moveTo>
                <a:lnTo>
                  <a:pt x="35754" y="0"/>
                </a:lnTo>
                <a:cubicBezTo>
                  <a:pt x="55500" y="0"/>
                  <a:pt x="71507" y="16007"/>
                  <a:pt x="71507" y="35754"/>
                </a:cubicBezTo>
                <a:lnTo>
                  <a:pt x="71507" y="393290"/>
                </a:lnTo>
                <a:cubicBezTo>
                  <a:pt x="71507" y="413037"/>
                  <a:pt x="55500" y="429044"/>
                  <a:pt x="35754" y="429044"/>
                </a:cubicBezTo>
                <a:lnTo>
                  <a:pt x="35754" y="429044"/>
                </a:lnTo>
                <a:cubicBezTo>
                  <a:pt x="16007" y="429044"/>
                  <a:pt x="0" y="413037"/>
                  <a:pt x="0" y="393290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" name="Text 1"/>
          <p:cNvSpPr/>
          <p:nvPr/>
        </p:nvSpPr>
        <p:spPr>
          <a:xfrm>
            <a:off x="536305" y="393290"/>
            <a:ext cx="2717279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 of Done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6305" y="893842"/>
            <a:ext cx="1138754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Когда MVP считается готовым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4687" y="1365790"/>
            <a:ext cx="11455474" cy="4644401"/>
          </a:xfrm>
          <a:custGeom>
            <a:avLst/>
            <a:gdLst/>
            <a:ahLst/>
            <a:cxnLst/>
            <a:rect l="l" t="t" r="r" b="b"/>
            <a:pathLst>
              <a:path w="11455474" h="4644401">
                <a:moveTo>
                  <a:pt x="214525" y="0"/>
                </a:moveTo>
                <a:lnTo>
                  <a:pt x="11240950" y="0"/>
                </a:lnTo>
                <a:cubicBezTo>
                  <a:pt x="11359428" y="0"/>
                  <a:pt x="11455474" y="96046"/>
                  <a:pt x="11455474" y="214525"/>
                </a:cubicBezTo>
                <a:lnTo>
                  <a:pt x="11455474" y="4429876"/>
                </a:lnTo>
                <a:cubicBezTo>
                  <a:pt x="11455474" y="4548355"/>
                  <a:pt x="11359428" y="4644401"/>
                  <a:pt x="11240950" y="4644401"/>
                </a:cubicBezTo>
                <a:lnTo>
                  <a:pt x="214525" y="4644401"/>
                </a:lnTo>
                <a:cubicBezTo>
                  <a:pt x="96046" y="4644401"/>
                  <a:pt x="0" y="4548355"/>
                  <a:pt x="0" y="4429876"/>
                </a:cubicBezTo>
                <a:lnTo>
                  <a:pt x="0" y="214525"/>
                </a:lnTo>
                <a:cubicBezTo>
                  <a:pt x="0" y="96046"/>
                  <a:pt x="96046" y="0"/>
                  <a:pt x="214525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20320">
            <a:solidFill>
              <a:srgbClr val="38BDF8">
                <a:alpha val="5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337" y="1730478"/>
            <a:ext cx="10860176" cy="321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1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Пользователь может: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2950" y="2341866"/>
            <a:ext cx="3376934" cy="3296488"/>
          </a:xfrm>
          <a:custGeom>
            <a:avLst/>
            <a:gdLst/>
            <a:ahLst/>
            <a:cxnLst/>
            <a:rect l="l" t="t" r="r" b="b"/>
            <a:pathLst>
              <a:path w="3376934" h="3296488">
                <a:moveTo>
                  <a:pt x="143002" y="0"/>
                </a:moveTo>
                <a:lnTo>
                  <a:pt x="3233932" y="0"/>
                </a:lnTo>
                <a:cubicBezTo>
                  <a:pt x="3312910" y="0"/>
                  <a:pt x="3376934" y="64024"/>
                  <a:pt x="3376934" y="143002"/>
                </a:cubicBezTo>
                <a:lnTo>
                  <a:pt x="3376934" y="3153486"/>
                </a:lnTo>
                <a:cubicBezTo>
                  <a:pt x="3376934" y="3232464"/>
                  <a:pt x="3312910" y="3296488"/>
                  <a:pt x="3233932" y="3296488"/>
                </a:cubicBezTo>
                <a:lnTo>
                  <a:pt x="143002" y="3296488"/>
                </a:lnTo>
                <a:cubicBezTo>
                  <a:pt x="64024" y="3296488"/>
                  <a:pt x="0" y="3232464"/>
                  <a:pt x="0" y="3153486"/>
                </a:cubicBezTo>
                <a:lnTo>
                  <a:pt x="0" y="143002"/>
                </a:lnTo>
                <a:cubicBezTo>
                  <a:pt x="0" y="64077"/>
                  <a:pt x="64077" y="0"/>
                  <a:pt x="143002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93155" y="2631469"/>
            <a:ext cx="858088" cy="858088"/>
          </a:xfrm>
          <a:custGeom>
            <a:avLst/>
            <a:gdLst/>
            <a:ahLst/>
            <a:cxnLst/>
            <a:rect l="l" t="t" r="r" b="b"/>
            <a:pathLst>
              <a:path w="858088" h="858088">
                <a:moveTo>
                  <a:pt x="143018" y="0"/>
                </a:moveTo>
                <a:lnTo>
                  <a:pt x="715070" y="0"/>
                </a:lnTo>
                <a:cubicBezTo>
                  <a:pt x="794004" y="0"/>
                  <a:pt x="858088" y="64084"/>
                  <a:pt x="858088" y="143018"/>
                </a:cubicBezTo>
                <a:lnTo>
                  <a:pt x="858088" y="715070"/>
                </a:lnTo>
                <a:cubicBezTo>
                  <a:pt x="858088" y="794057"/>
                  <a:pt x="794057" y="858088"/>
                  <a:pt x="715070" y="858088"/>
                </a:cubicBezTo>
                <a:lnTo>
                  <a:pt x="143018" y="858088"/>
                </a:lnTo>
                <a:cubicBezTo>
                  <a:pt x="64084" y="858088"/>
                  <a:pt x="0" y="794004"/>
                  <a:pt x="0" y="715070"/>
                </a:cubicBezTo>
                <a:lnTo>
                  <a:pt x="0" y="143018"/>
                </a:lnTo>
                <a:cubicBezTo>
                  <a:pt x="0" y="64031"/>
                  <a:pt x="64031" y="0"/>
                  <a:pt x="143018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2229129" y="2845995"/>
            <a:ext cx="384352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8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36170" y="3704083"/>
            <a:ext cx="572059" cy="572059"/>
          </a:xfrm>
          <a:custGeom>
            <a:avLst/>
            <a:gdLst/>
            <a:ahLst/>
            <a:cxnLst/>
            <a:rect l="l" t="t" r="r" b="b"/>
            <a:pathLst>
              <a:path w="572059" h="572059">
                <a:moveTo>
                  <a:pt x="107261" y="0"/>
                </a:moveTo>
                <a:lnTo>
                  <a:pt x="464798" y="0"/>
                </a:lnTo>
                <a:cubicBezTo>
                  <a:pt x="524036" y="0"/>
                  <a:pt x="572059" y="48022"/>
                  <a:pt x="572059" y="107261"/>
                </a:cubicBezTo>
                <a:lnTo>
                  <a:pt x="572059" y="464798"/>
                </a:lnTo>
                <a:cubicBezTo>
                  <a:pt x="572059" y="524036"/>
                  <a:pt x="524036" y="572059"/>
                  <a:pt x="464798" y="572059"/>
                </a:cubicBezTo>
                <a:lnTo>
                  <a:pt x="107261" y="572059"/>
                </a:lnTo>
                <a:cubicBezTo>
                  <a:pt x="48022" y="572059"/>
                  <a:pt x="0" y="524036"/>
                  <a:pt x="0" y="464798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307117" y="3856036"/>
            <a:ext cx="234633" cy="268152"/>
          </a:xfrm>
          <a:custGeom>
            <a:avLst/>
            <a:gdLst/>
            <a:ahLst/>
            <a:cxnLst/>
            <a:rect l="l" t="t" r="r" b="b"/>
            <a:pathLst>
              <a:path w="234633" h="268152">
                <a:moveTo>
                  <a:pt x="134076" y="57244"/>
                </a:moveTo>
                <a:lnTo>
                  <a:pt x="134076" y="167595"/>
                </a:lnTo>
                <a:cubicBezTo>
                  <a:pt x="134076" y="176865"/>
                  <a:pt x="126587" y="184355"/>
                  <a:pt x="117317" y="184355"/>
                </a:cubicBezTo>
                <a:cubicBezTo>
                  <a:pt x="108047" y="184355"/>
                  <a:pt x="100557" y="176865"/>
                  <a:pt x="100557" y="167595"/>
                </a:cubicBezTo>
                <a:lnTo>
                  <a:pt x="100557" y="57244"/>
                </a:lnTo>
                <a:lnTo>
                  <a:pt x="78875" y="78927"/>
                </a:lnTo>
                <a:cubicBezTo>
                  <a:pt x="72328" y="85474"/>
                  <a:pt x="61696" y="85474"/>
                  <a:pt x="55149" y="78927"/>
                </a:cubicBezTo>
                <a:cubicBezTo>
                  <a:pt x="48603" y="72380"/>
                  <a:pt x="48603" y="61748"/>
                  <a:pt x="55149" y="55202"/>
                </a:cubicBezTo>
                <a:lnTo>
                  <a:pt x="105428" y="4923"/>
                </a:lnTo>
                <a:cubicBezTo>
                  <a:pt x="111975" y="-1624"/>
                  <a:pt x="122606" y="-1624"/>
                  <a:pt x="129153" y="4923"/>
                </a:cubicBezTo>
                <a:lnTo>
                  <a:pt x="179432" y="55202"/>
                </a:lnTo>
                <a:cubicBezTo>
                  <a:pt x="185978" y="61748"/>
                  <a:pt x="185978" y="72380"/>
                  <a:pt x="179432" y="78927"/>
                </a:cubicBezTo>
                <a:cubicBezTo>
                  <a:pt x="172885" y="85474"/>
                  <a:pt x="162253" y="85474"/>
                  <a:pt x="155707" y="78927"/>
                </a:cubicBezTo>
                <a:lnTo>
                  <a:pt x="134076" y="57244"/>
                </a:lnTo>
                <a:close/>
                <a:moveTo>
                  <a:pt x="117317" y="209494"/>
                </a:moveTo>
                <a:cubicBezTo>
                  <a:pt x="140466" y="209494"/>
                  <a:pt x="159216" y="190744"/>
                  <a:pt x="159216" y="167595"/>
                </a:cubicBezTo>
                <a:lnTo>
                  <a:pt x="201114" y="167595"/>
                </a:lnTo>
                <a:cubicBezTo>
                  <a:pt x="219602" y="167595"/>
                  <a:pt x="234633" y="182627"/>
                  <a:pt x="234633" y="201114"/>
                </a:cubicBezTo>
                <a:lnTo>
                  <a:pt x="234633" y="217874"/>
                </a:lnTo>
                <a:cubicBezTo>
                  <a:pt x="234633" y="236362"/>
                  <a:pt x="219602" y="251393"/>
                  <a:pt x="201114" y="251393"/>
                </a:cubicBezTo>
                <a:lnTo>
                  <a:pt x="33519" y="251393"/>
                </a:lnTo>
                <a:cubicBezTo>
                  <a:pt x="15031" y="251393"/>
                  <a:pt x="0" y="236362"/>
                  <a:pt x="0" y="217874"/>
                </a:cubicBezTo>
                <a:lnTo>
                  <a:pt x="0" y="201114"/>
                </a:lnTo>
                <a:cubicBezTo>
                  <a:pt x="0" y="182627"/>
                  <a:pt x="15031" y="167595"/>
                  <a:pt x="33519" y="167595"/>
                </a:cubicBezTo>
                <a:lnTo>
                  <a:pt x="75418" y="167595"/>
                </a:lnTo>
                <a:cubicBezTo>
                  <a:pt x="75418" y="190744"/>
                  <a:pt x="94168" y="209494"/>
                  <a:pt x="117317" y="209494"/>
                </a:cubicBezTo>
                <a:close/>
                <a:moveTo>
                  <a:pt x="192735" y="222064"/>
                </a:moveTo>
                <a:cubicBezTo>
                  <a:pt x="199672" y="222064"/>
                  <a:pt x="205304" y="216432"/>
                  <a:pt x="205304" y="209494"/>
                </a:cubicBezTo>
                <a:cubicBezTo>
                  <a:pt x="205304" y="202557"/>
                  <a:pt x="199672" y="196924"/>
                  <a:pt x="192735" y="196924"/>
                </a:cubicBezTo>
                <a:cubicBezTo>
                  <a:pt x="185797" y="196924"/>
                  <a:pt x="180165" y="202557"/>
                  <a:pt x="180165" y="209494"/>
                </a:cubicBezTo>
                <a:cubicBezTo>
                  <a:pt x="180165" y="216432"/>
                  <a:pt x="185797" y="222064"/>
                  <a:pt x="192735" y="22206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968924" y="4454910"/>
            <a:ext cx="290498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Загрузить ECG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82332" y="4848087"/>
            <a:ext cx="2878170" cy="500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Простая загрузка файла через интерфейс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04628" y="2341866"/>
            <a:ext cx="3376934" cy="3296488"/>
          </a:xfrm>
          <a:custGeom>
            <a:avLst/>
            <a:gdLst/>
            <a:ahLst/>
            <a:cxnLst/>
            <a:rect l="l" t="t" r="r" b="b"/>
            <a:pathLst>
              <a:path w="3376934" h="3296488">
                <a:moveTo>
                  <a:pt x="143002" y="0"/>
                </a:moveTo>
                <a:lnTo>
                  <a:pt x="3233932" y="0"/>
                </a:lnTo>
                <a:cubicBezTo>
                  <a:pt x="3312910" y="0"/>
                  <a:pt x="3376934" y="64024"/>
                  <a:pt x="3376934" y="143002"/>
                </a:cubicBezTo>
                <a:lnTo>
                  <a:pt x="3376934" y="3153486"/>
                </a:lnTo>
                <a:cubicBezTo>
                  <a:pt x="3376934" y="3232464"/>
                  <a:pt x="3312910" y="3296488"/>
                  <a:pt x="3233932" y="3296488"/>
                </a:cubicBezTo>
                <a:lnTo>
                  <a:pt x="143002" y="3296488"/>
                </a:lnTo>
                <a:cubicBezTo>
                  <a:pt x="64024" y="3296488"/>
                  <a:pt x="0" y="3232464"/>
                  <a:pt x="0" y="3153486"/>
                </a:cubicBezTo>
                <a:lnTo>
                  <a:pt x="0" y="143002"/>
                </a:lnTo>
                <a:cubicBezTo>
                  <a:pt x="0" y="64077"/>
                  <a:pt x="64077" y="0"/>
                  <a:pt x="143002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4833" y="2631469"/>
            <a:ext cx="858088" cy="858088"/>
          </a:xfrm>
          <a:custGeom>
            <a:avLst/>
            <a:gdLst/>
            <a:ahLst/>
            <a:cxnLst/>
            <a:rect l="l" t="t" r="r" b="b"/>
            <a:pathLst>
              <a:path w="858088" h="858088">
                <a:moveTo>
                  <a:pt x="143018" y="0"/>
                </a:moveTo>
                <a:lnTo>
                  <a:pt x="715070" y="0"/>
                </a:lnTo>
                <a:cubicBezTo>
                  <a:pt x="794004" y="0"/>
                  <a:pt x="858088" y="64084"/>
                  <a:pt x="858088" y="143018"/>
                </a:cubicBezTo>
                <a:lnTo>
                  <a:pt x="858088" y="715070"/>
                </a:lnTo>
                <a:cubicBezTo>
                  <a:pt x="858088" y="794057"/>
                  <a:pt x="794057" y="858088"/>
                  <a:pt x="715070" y="858088"/>
                </a:cubicBezTo>
                <a:lnTo>
                  <a:pt x="143018" y="858088"/>
                </a:lnTo>
                <a:cubicBezTo>
                  <a:pt x="64084" y="858088"/>
                  <a:pt x="0" y="794004"/>
                  <a:pt x="0" y="715070"/>
                </a:cubicBezTo>
                <a:lnTo>
                  <a:pt x="0" y="143018"/>
                </a:lnTo>
                <a:cubicBezTo>
                  <a:pt x="0" y="64031"/>
                  <a:pt x="64031" y="0"/>
                  <a:pt x="143018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7" name="Text 14"/>
          <p:cNvSpPr/>
          <p:nvPr/>
        </p:nvSpPr>
        <p:spPr>
          <a:xfrm>
            <a:off x="5861925" y="2845995"/>
            <a:ext cx="464798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8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07848" y="3704083"/>
            <a:ext cx="572059" cy="572059"/>
          </a:xfrm>
          <a:custGeom>
            <a:avLst/>
            <a:gdLst/>
            <a:ahLst/>
            <a:cxnLst/>
            <a:rect l="l" t="t" r="r" b="b"/>
            <a:pathLst>
              <a:path w="572059" h="572059">
                <a:moveTo>
                  <a:pt x="107261" y="0"/>
                </a:moveTo>
                <a:lnTo>
                  <a:pt x="464798" y="0"/>
                </a:lnTo>
                <a:cubicBezTo>
                  <a:pt x="524036" y="0"/>
                  <a:pt x="572059" y="48022"/>
                  <a:pt x="572059" y="107261"/>
                </a:cubicBezTo>
                <a:lnTo>
                  <a:pt x="572059" y="464798"/>
                </a:lnTo>
                <a:cubicBezTo>
                  <a:pt x="572059" y="524036"/>
                  <a:pt x="524036" y="572059"/>
                  <a:pt x="464798" y="572059"/>
                </a:cubicBezTo>
                <a:lnTo>
                  <a:pt x="107261" y="572059"/>
                </a:lnTo>
                <a:cubicBezTo>
                  <a:pt x="48022" y="572059"/>
                  <a:pt x="0" y="524036"/>
                  <a:pt x="0" y="464798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962036" y="3856036"/>
            <a:ext cx="268152" cy="268152"/>
          </a:xfrm>
          <a:custGeom>
            <a:avLst/>
            <a:gdLst/>
            <a:ahLst/>
            <a:cxnLst/>
            <a:rect l="l" t="t" r="r" b="b"/>
            <a:pathLst>
              <a:path w="268152" h="268152">
                <a:moveTo>
                  <a:pt x="0" y="134076"/>
                </a:moveTo>
                <a:cubicBezTo>
                  <a:pt x="0" y="60078"/>
                  <a:pt x="60078" y="0"/>
                  <a:pt x="134076" y="0"/>
                </a:cubicBezTo>
                <a:cubicBezTo>
                  <a:pt x="208075" y="0"/>
                  <a:pt x="268152" y="60078"/>
                  <a:pt x="268152" y="134076"/>
                </a:cubicBezTo>
                <a:cubicBezTo>
                  <a:pt x="268152" y="208075"/>
                  <a:pt x="208075" y="268152"/>
                  <a:pt x="134076" y="268152"/>
                </a:cubicBezTo>
                <a:cubicBezTo>
                  <a:pt x="60078" y="268152"/>
                  <a:pt x="0" y="208075"/>
                  <a:pt x="0" y="134076"/>
                </a:cubicBezTo>
                <a:close/>
                <a:moveTo>
                  <a:pt x="98619" y="77041"/>
                </a:moveTo>
                <a:cubicBezTo>
                  <a:pt x="94639" y="79241"/>
                  <a:pt x="92177" y="83483"/>
                  <a:pt x="92177" y="87988"/>
                </a:cubicBezTo>
                <a:lnTo>
                  <a:pt x="92177" y="180165"/>
                </a:lnTo>
                <a:cubicBezTo>
                  <a:pt x="92177" y="184721"/>
                  <a:pt x="94639" y="188911"/>
                  <a:pt x="98619" y="191111"/>
                </a:cubicBezTo>
                <a:cubicBezTo>
                  <a:pt x="102600" y="193311"/>
                  <a:pt x="107418" y="193258"/>
                  <a:pt x="111346" y="190849"/>
                </a:cubicBezTo>
                <a:lnTo>
                  <a:pt x="186764" y="144760"/>
                </a:lnTo>
                <a:cubicBezTo>
                  <a:pt x="190483" y="142456"/>
                  <a:pt x="192787" y="138423"/>
                  <a:pt x="192787" y="134024"/>
                </a:cubicBezTo>
                <a:cubicBezTo>
                  <a:pt x="192787" y="129624"/>
                  <a:pt x="190483" y="125592"/>
                  <a:pt x="186764" y="123287"/>
                </a:cubicBezTo>
                <a:lnTo>
                  <a:pt x="111346" y="77199"/>
                </a:lnTo>
                <a:cubicBezTo>
                  <a:pt x="107470" y="74842"/>
                  <a:pt x="102600" y="74737"/>
                  <a:pt x="98619" y="7693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0" name="Text 17"/>
          <p:cNvSpPr/>
          <p:nvPr/>
        </p:nvSpPr>
        <p:spPr>
          <a:xfrm>
            <a:off x="4640602" y="4454910"/>
            <a:ext cx="290498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Нажать "Analyze"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654010" y="4848087"/>
            <a:ext cx="287817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Запуск анализа одной кнопкой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76418" y="2341866"/>
            <a:ext cx="3376934" cy="3296488"/>
          </a:xfrm>
          <a:custGeom>
            <a:avLst/>
            <a:gdLst/>
            <a:ahLst/>
            <a:cxnLst/>
            <a:rect l="l" t="t" r="r" b="b"/>
            <a:pathLst>
              <a:path w="3376934" h="3296488">
                <a:moveTo>
                  <a:pt x="143002" y="0"/>
                </a:moveTo>
                <a:lnTo>
                  <a:pt x="3233932" y="0"/>
                </a:lnTo>
                <a:cubicBezTo>
                  <a:pt x="3312910" y="0"/>
                  <a:pt x="3376934" y="64024"/>
                  <a:pt x="3376934" y="143002"/>
                </a:cubicBezTo>
                <a:lnTo>
                  <a:pt x="3376934" y="3153486"/>
                </a:lnTo>
                <a:cubicBezTo>
                  <a:pt x="3376934" y="3232464"/>
                  <a:pt x="3312910" y="3296488"/>
                  <a:pt x="3233932" y="3296488"/>
                </a:cubicBezTo>
                <a:lnTo>
                  <a:pt x="143002" y="3296488"/>
                </a:lnTo>
                <a:cubicBezTo>
                  <a:pt x="64024" y="3296488"/>
                  <a:pt x="0" y="3232464"/>
                  <a:pt x="0" y="3153486"/>
                </a:cubicBezTo>
                <a:lnTo>
                  <a:pt x="0" y="143002"/>
                </a:lnTo>
                <a:cubicBezTo>
                  <a:pt x="0" y="64077"/>
                  <a:pt x="64077" y="0"/>
                  <a:pt x="143002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36623" y="2631469"/>
            <a:ext cx="858088" cy="858088"/>
          </a:xfrm>
          <a:custGeom>
            <a:avLst/>
            <a:gdLst/>
            <a:ahLst/>
            <a:cxnLst/>
            <a:rect l="l" t="t" r="r" b="b"/>
            <a:pathLst>
              <a:path w="858088" h="858088">
                <a:moveTo>
                  <a:pt x="143018" y="0"/>
                </a:moveTo>
                <a:lnTo>
                  <a:pt x="715070" y="0"/>
                </a:lnTo>
                <a:cubicBezTo>
                  <a:pt x="794004" y="0"/>
                  <a:pt x="858088" y="64084"/>
                  <a:pt x="858088" y="143018"/>
                </a:cubicBezTo>
                <a:lnTo>
                  <a:pt x="858088" y="715070"/>
                </a:lnTo>
                <a:cubicBezTo>
                  <a:pt x="858088" y="794057"/>
                  <a:pt x="794057" y="858088"/>
                  <a:pt x="715070" y="858088"/>
                </a:cubicBezTo>
                <a:lnTo>
                  <a:pt x="143018" y="858088"/>
                </a:lnTo>
                <a:cubicBezTo>
                  <a:pt x="64084" y="858088"/>
                  <a:pt x="0" y="794004"/>
                  <a:pt x="0" y="715070"/>
                </a:cubicBezTo>
                <a:lnTo>
                  <a:pt x="0" y="143018"/>
                </a:lnTo>
                <a:cubicBezTo>
                  <a:pt x="0" y="64031"/>
                  <a:pt x="64031" y="0"/>
                  <a:pt x="143018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9531816" y="2845995"/>
            <a:ext cx="464798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8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479638" y="3704083"/>
            <a:ext cx="572059" cy="572059"/>
          </a:xfrm>
          <a:custGeom>
            <a:avLst/>
            <a:gdLst/>
            <a:ahLst/>
            <a:cxnLst/>
            <a:rect l="l" t="t" r="r" b="b"/>
            <a:pathLst>
              <a:path w="572059" h="572059">
                <a:moveTo>
                  <a:pt x="107261" y="0"/>
                </a:moveTo>
                <a:lnTo>
                  <a:pt x="464798" y="0"/>
                </a:lnTo>
                <a:cubicBezTo>
                  <a:pt x="524036" y="0"/>
                  <a:pt x="572059" y="48022"/>
                  <a:pt x="572059" y="107261"/>
                </a:cubicBezTo>
                <a:lnTo>
                  <a:pt x="572059" y="464798"/>
                </a:lnTo>
                <a:cubicBezTo>
                  <a:pt x="572059" y="524036"/>
                  <a:pt x="524036" y="572059"/>
                  <a:pt x="464798" y="572059"/>
                </a:cubicBezTo>
                <a:lnTo>
                  <a:pt x="107261" y="572059"/>
                </a:lnTo>
                <a:cubicBezTo>
                  <a:pt x="48022" y="572059"/>
                  <a:pt x="0" y="524036"/>
                  <a:pt x="0" y="464798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633826" y="3856036"/>
            <a:ext cx="268152" cy="268152"/>
          </a:xfrm>
          <a:custGeom>
            <a:avLst/>
            <a:gdLst/>
            <a:ahLst/>
            <a:cxnLst/>
            <a:rect l="l" t="t" r="r" b="b"/>
            <a:pathLst>
              <a:path w="268152" h="268152">
                <a:moveTo>
                  <a:pt x="16760" y="16760"/>
                </a:moveTo>
                <a:cubicBezTo>
                  <a:pt x="26030" y="16760"/>
                  <a:pt x="33519" y="24249"/>
                  <a:pt x="33519" y="33519"/>
                </a:cubicBezTo>
                <a:lnTo>
                  <a:pt x="33519" y="209494"/>
                </a:lnTo>
                <a:cubicBezTo>
                  <a:pt x="33519" y="214103"/>
                  <a:pt x="37290" y="217874"/>
                  <a:pt x="41899" y="217874"/>
                </a:cubicBezTo>
                <a:lnTo>
                  <a:pt x="251393" y="217874"/>
                </a:lnTo>
                <a:cubicBezTo>
                  <a:pt x="260663" y="217874"/>
                  <a:pt x="268152" y="225363"/>
                  <a:pt x="268152" y="234633"/>
                </a:cubicBezTo>
                <a:cubicBezTo>
                  <a:pt x="268152" y="243904"/>
                  <a:pt x="260663" y="251393"/>
                  <a:pt x="251393" y="251393"/>
                </a:cubicBezTo>
                <a:lnTo>
                  <a:pt x="41899" y="251393"/>
                </a:lnTo>
                <a:cubicBezTo>
                  <a:pt x="18750" y="251393"/>
                  <a:pt x="0" y="232643"/>
                  <a:pt x="0" y="209494"/>
                </a:cubicBezTo>
                <a:lnTo>
                  <a:pt x="0" y="33519"/>
                </a:lnTo>
                <a:cubicBezTo>
                  <a:pt x="0" y="24249"/>
                  <a:pt x="7489" y="16760"/>
                  <a:pt x="16760" y="16760"/>
                </a:cubicBezTo>
                <a:close/>
                <a:moveTo>
                  <a:pt x="67038" y="50279"/>
                </a:moveTo>
                <a:cubicBezTo>
                  <a:pt x="67038" y="41008"/>
                  <a:pt x="74528" y="33519"/>
                  <a:pt x="83798" y="33519"/>
                </a:cubicBezTo>
                <a:lnTo>
                  <a:pt x="184355" y="33519"/>
                </a:lnTo>
                <a:cubicBezTo>
                  <a:pt x="193625" y="33519"/>
                  <a:pt x="201114" y="41008"/>
                  <a:pt x="201114" y="50279"/>
                </a:cubicBezTo>
                <a:cubicBezTo>
                  <a:pt x="201114" y="59549"/>
                  <a:pt x="193625" y="67038"/>
                  <a:pt x="184355" y="67038"/>
                </a:cubicBezTo>
                <a:lnTo>
                  <a:pt x="83798" y="67038"/>
                </a:lnTo>
                <a:cubicBezTo>
                  <a:pt x="74528" y="67038"/>
                  <a:pt x="67038" y="59549"/>
                  <a:pt x="67038" y="50279"/>
                </a:cubicBezTo>
                <a:close/>
                <a:moveTo>
                  <a:pt x="83798" y="92177"/>
                </a:moveTo>
                <a:lnTo>
                  <a:pt x="150836" y="92177"/>
                </a:lnTo>
                <a:cubicBezTo>
                  <a:pt x="160106" y="92177"/>
                  <a:pt x="167595" y="99667"/>
                  <a:pt x="167595" y="108937"/>
                </a:cubicBezTo>
                <a:cubicBezTo>
                  <a:pt x="167595" y="118207"/>
                  <a:pt x="160106" y="125696"/>
                  <a:pt x="150836" y="125696"/>
                </a:cubicBezTo>
                <a:lnTo>
                  <a:pt x="83798" y="125696"/>
                </a:lnTo>
                <a:cubicBezTo>
                  <a:pt x="74528" y="125696"/>
                  <a:pt x="67038" y="118207"/>
                  <a:pt x="67038" y="108937"/>
                </a:cubicBezTo>
                <a:cubicBezTo>
                  <a:pt x="67038" y="99667"/>
                  <a:pt x="74528" y="92177"/>
                  <a:pt x="83798" y="92177"/>
                </a:cubicBezTo>
                <a:close/>
                <a:moveTo>
                  <a:pt x="83798" y="150836"/>
                </a:moveTo>
                <a:lnTo>
                  <a:pt x="217874" y="150836"/>
                </a:lnTo>
                <a:cubicBezTo>
                  <a:pt x="227144" y="150836"/>
                  <a:pt x="234633" y="158325"/>
                  <a:pt x="234633" y="167595"/>
                </a:cubicBezTo>
                <a:cubicBezTo>
                  <a:pt x="234633" y="176865"/>
                  <a:pt x="227144" y="184355"/>
                  <a:pt x="217874" y="184355"/>
                </a:cubicBezTo>
                <a:lnTo>
                  <a:pt x="83798" y="184355"/>
                </a:lnTo>
                <a:cubicBezTo>
                  <a:pt x="74528" y="184355"/>
                  <a:pt x="67038" y="176865"/>
                  <a:pt x="67038" y="167595"/>
                </a:cubicBezTo>
                <a:cubicBezTo>
                  <a:pt x="67038" y="158325"/>
                  <a:pt x="74528" y="150836"/>
                  <a:pt x="83798" y="15083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Text 24"/>
          <p:cNvSpPr/>
          <p:nvPr/>
        </p:nvSpPr>
        <p:spPr>
          <a:xfrm>
            <a:off x="8312392" y="4454910"/>
            <a:ext cx="290498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Получить результат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25800" y="4848087"/>
            <a:ext cx="287817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за несколько секунд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75413" y="6228182"/>
            <a:ext cx="11459050" cy="625689"/>
          </a:xfrm>
          <a:custGeom>
            <a:avLst/>
            <a:gdLst/>
            <a:ahLst/>
            <a:cxnLst/>
            <a:rect l="l" t="t" r="r" b="b"/>
            <a:pathLst>
              <a:path w="11459050" h="625689">
                <a:moveTo>
                  <a:pt x="0" y="0"/>
                </a:moveTo>
                <a:lnTo>
                  <a:pt x="11351788" y="0"/>
                </a:lnTo>
                <a:cubicBezTo>
                  <a:pt x="11411027" y="0"/>
                  <a:pt x="11459050" y="48023"/>
                  <a:pt x="11459050" y="107262"/>
                </a:cubicBezTo>
                <a:lnTo>
                  <a:pt x="11459050" y="518427"/>
                </a:lnTo>
                <a:cubicBezTo>
                  <a:pt x="11459050" y="577666"/>
                  <a:pt x="11411027" y="625689"/>
                  <a:pt x="11351788" y="625689"/>
                </a:cubicBezTo>
                <a:lnTo>
                  <a:pt x="0" y="62568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375413" y="6228182"/>
            <a:ext cx="35754" cy="625689"/>
          </a:xfrm>
          <a:custGeom>
            <a:avLst/>
            <a:gdLst/>
            <a:ahLst/>
            <a:cxnLst/>
            <a:rect l="l" t="t" r="r" b="b"/>
            <a:pathLst>
              <a:path w="35754" h="625689">
                <a:moveTo>
                  <a:pt x="0" y="0"/>
                </a:moveTo>
                <a:lnTo>
                  <a:pt x="35754" y="0"/>
                </a:lnTo>
                <a:lnTo>
                  <a:pt x="35754" y="625689"/>
                </a:lnTo>
                <a:lnTo>
                  <a:pt x="0" y="625689"/>
                </a:lnTo>
                <a:lnTo>
                  <a:pt x="0" y="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1" name="Shape 28"/>
          <p:cNvSpPr/>
          <p:nvPr/>
        </p:nvSpPr>
        <p:spPr>
          <a:xfrm>
            <a:off x="607812" y="6406950"/>
            <a:ext cx="268152" cy="268152"/>
          </a:xfrm>
          <a:custGeom>
            <a:avLst/>
            <a:gdLst/>
            <a:ahLst/>
            <a:cxnLst/>
            <a:rect l="l" t="t" r="r" b="b"/>
            <a:pathLst>
              <a:path w="268152" h="268152">
                <a:moveTo>
                  <a:pt x="134076" y="268152"/>
                </a:moveTo>
                <a:cubicBezTo>
                  <a:pt x="208075" y="268152"/>
                  <a:pt x="268152" y="208075"/>
                  <a:pt x="268152" y="134076"/>
                </a:cubicBezTo>
                <a:cubicBezTo>
                  <a:pt x="268152" y="60078"/>
                  <a:pt x="208075" y="0"/>
                  <a:pt x="134076" y="0"/>
                </a:cubicBezTo>
                <a:cubicBezTo>
                  <a:pt x="60078" y="0"/>
                  <a:pt x="0" y="60078"/>
                  <a:pt x="0" y="134076"/>
                </a:cubicBezTo>
                <a:cubicBezTo>
                  <a:pt x="0" y="208075"/>
                  <a:pt x="60078" y="268152"/>
                  <a:pt x="134076" y="268152"/>
                </a:cubicBezTo>
                <a:close/>
                <a:moveTo>
                  <a:pt x="178280" y="111399"/>
                </a:moveTo>
                <a:lnTo>
                  <a:pt x="136381" y="178437"/>
                </a:lnTo>
                <a:cubicBezTo>
                  <a:pt x="134181" y="181946"/>
                  <a:pt x="130410" y="184145"/>
                  <a:pt x="126273" y="184355"/>
                </a:cubicBezTo>
                <a:cubicBezTo>
                  <a:pt x="122135" y="184564"/>
                  <a:pt x="118155" y="182679"/>
                  <a:pt x="115693" y="179327"/>
                </a:cubicBezTo>
                <a:lnTo>
                  <a:pt x="90554" y="145808"/>
                </a:lnTo>
                <a:cubicBezTo>
                  <a:pt x="86364" y="140256"/>
                  <a:pt x="87516" y="132400"/>
                  <a:pt x="93068" y="128210"/>
                </a:cubicBezTo>
                <a:cubicBezTo>
                  <a:pt x="98619" y="124021"/>
                  <a:pt x="106475" y="125173"/>
                  <a:pt x="110665" y="130724"/>
                </a:cubicBezTo>
                <a:lnTo>
                  <a:pt x="124806" y="149579"/>
                </a:lnTo>
                <a:lnTo>
                  <a:pt x="156963" y="98096"/>
                </a:lnTo>
                <a:cubicBezTo>
                  <a:pt x="160630" y="92230"/>
                  <a:pt x="168381" y="90397"/>
                  <a:pt x="174299" y="94115"/>
                </a:cubicBezTo>
                <a:cubicBezTo>
                  <a:pt x="180217" y="97834"/>
                  <a:pt x="181998" y="105533"/>
                  <a:pt x="178280" y="11145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2" name="Text 29"/>
          <p:cNvSpPr/>
          <p:nvPr/>
        </p:nvSpPr>
        <p:spPr>
          <a:xfrm>
            <a:off x="1050264" y="6415889"/>
            <a:ext cx="5845724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Простой и понятный пользовательский путь</a:t>
            </a:r>
            <a:r>
              <a:rPr lang="en-US" sz="1408" dirty="0">
                <a:solidFill>
                  <a:srgbClr val="F1F5F9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от загрузки до результата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henompeople.com/3ebb67fb51a994b3755cb90fbabb07de54605982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6642" b="664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28104" y="514467"/>
            <a:ext cx="2531745" cy="617220"/>
          </a:xfrm>
          <a:custGeom>
            <a:avLst/>
            <a:gdLst/>
            <a:ahLst/>
            <a:cxnLst/>
            <a:rect l="l" t="t" r="r" b="b"/>
            <a:pathLst>
              <a:path w="2531745" h="617220">
                <a:moveTo>
                  <a:pt x="308610" y="0"/>
                </a:moveTo>
                <a:lnTo>
                  <a:pt x="2223135" y="0"/>
                </a:lnTo>
                <a:cubicBezTo>
                  <a:pt x="2393576" y="0"/>
                  <a:pt x="2531745" y="138169"/>
                  <a:pt x="2531745" y="308610"/>
                </a:cubicBezTo>
                <a:lnTo>
                  <a:pt x="2531745" y="308610"/>
                </a:lnTo>
                <a:cubicBezTo>
                  <a:pt x="2531745" y="479051"/>
                  <a:pt x="2393576" y="617220"/>
                  <a:pt x="2223135" y="617220"/>
                </a:cubicBezTo>
                <a:lnTo>
                  <a:pt x="308610" y="617220"/>
                </a:lnTo>
                <a:cubicBezTo>
                  <a:pt x="138284" y="617220"/>
                  <a:pt x="0" y="478936"/>
                  <a:pt x="0" y="308610"/>
                </a:cubicBezTo>
                <a:lnTo>
                  <a:pt x="0" y="308610"/>
                </a:lnTo>
                <a:cubicBezTo>
                  <a:pt x="0" y="138284"/>
                  <a:pt x="138284" y="0"/>
                  <a:pt x="308610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36714" y="708664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5479614" y="670685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Наша команда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" y="1363982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человек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3850" y="2087882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Сбалансированная команда для разработки MVP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729502" y="2777371"/>
            <a:ext cx="2007870" cy="2484120"/>
          </a:xfrm>
          <a:custGeom>
            <a:avLst/>
            <a:gdLst/>
            <a:ahLst/>
            <a:cxnLst/>
            <a:rect l="l" t="t" r="r" b="b"/>
            <a:pathLst>
              <a:path w="2007870" h="2484120">
                <a:moveTo>
                  <a:pt x="152397" y="0"/>
                </a:moveTo>
                <a:lnTo>
                  <a:pt x="1855473" y="0"/>
                </a:lnTo>
                <a:cubicBezTo>
                  <a:pt x="1939639" y="0"/>
                  <a:pt x="2007870" y="68231"/>
                  <a:pt x="2007870" y="152397"/>
                </a:cubicBezTo>
                <a:lnTo>
                  <a:pt x="2007870" y="2331723"/>
                </a:lnTo>
                <a:cubicBezTo>
                  <a:pt x="2007870" y="2415889"/>
                  <a:pt x="1939639" y="2484120"/>
                  <a:pt x="1855473" y="2484120"/>
                </a:cubicBezTo>
                <a:lnTo>
                  <a:pt x="152397" y="2484120"/>
                </a:lnTo>
                <a:cubicBezTo>
                  <a:pt x="68231" y="2484120"/>
                  <a:pt x="0" y="2415889"/>
                  <a:pt x="0" y="23317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51484" y="300977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609850" y="324790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1847612" y="3924179"/>
            <a:ext cx="1771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14287" y="4457579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Lead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923812" y="4800479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Управление проектом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71806" y="2777371"/>
            <a:ext cx="2007870" cy="2484120"/>
          </a:xfrm>
          <a:custGeom>
            <a:avLst/>
            <a:gdLst/>
            <a:ahLst/>
            <a:cxnLst/>
            <a:rect l="l" t="t" r="r" b="b"/>
            <a:pathLst>
              <a:path w="2007870" h="2484120">
                <a:moveTo>
                  <a:pt x="152397" y="0"/>
                </a:moveTo>
                <a:lnTo>
                  <a:pt x="1855473" y="0"/>
                </a:lnTo>
                <a:cubicBezTo>
                  <a:pt x="1939639" y="0"/>
                  <a:pt x="2007870" y="68231"/>
                  <a:pt x="2007870" y="152397"/>
                </a:cubicBezTo>
                <a:lnTo>
                  <a:pt x="2007870" y="2331723"/>
                </a:lnTo>
                <a:cubicBezTo>
                  <a:pt x="2007870" y="2415889"/>
                  <a:pt x="1939639" y="2484120"/>
                  <a:pt x="1855473" y="2484120"/>
                </a:cubicBezTo>
                <a:lnTo>
                  <a:pt x="152397" y="2484120"/>
                </a:lnTo>
                <a:cubicBezTo>
                  <a:pt x="68231" y="2484120"/>
                  <a:pt x="0" y="2415889"/>
                  <a:pt x="0" y="23317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3F5E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93788" y="300977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43F5E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834295" y="32479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8" name="Text 15"/>
          <p:cNvSpPr/>
          <p:nvPr/>
        </p:nvSpPr>
        <p:spPr>
          <a:xfrm>
            <a:off x="4089916" y="3924179"/>
            <a:ext cx="1771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156591" y="4457579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Engineers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66116" y="4800479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Модели и данные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14110" y="2777371"/>
            <a:ext cx="2007870" cy="2484120"/>
          </a:xfrm>
          <a:custGeom>
            <a:avLst/>
            <a:gdLst/>
            <a:ahLst/>
            <a:cxnLst/>
            <a:rect l="l" t="t" r="r" b="b"/>
            <a:pathLst>
              <a:path w="2007870" h="2484120">
                <a:moveTo>
                  <a:pt x="152397" y="0"/>
                </a:moveTo>
                <a:lnTo>
                  <a:pt x="1855473" y="0"/>
                </a:lnTo>
                <a:cubicBezTo>
                  <a:pt x="1939639" y="0"/>
                  <a:pt x="2007870" y="68231"/>
                  <a:pt x="2007870" y="152397"/>
                </a:cubicBezTo>
                <a:lnTo>
                  <a:pt x="2007870" y="2331723"/>
                </a:lnTo>
                <a:cubicBezTo>
                  <a:pt x="2007870" y="2415889"/>
                  <a:pt x="1939639" y="2484120"/>
                  <a:pt x="1855473" y="2484120"/>
                </a:cubicBezTo>
                <a:lnTo>
                  <a:pt x="152397" y="2484120"/>
                </a:lnTo>
                <a:cubicBezTo>
                  <a:pt x="68231" y="2484120"/>
                  <a:pt x="0" y="2415889"/>
                  <a:pt x="0" y="23317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36093" y="300977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094458" y="324790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6332220" y="3924179"/>
            <a:ext cx="1771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98895" y="4457579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8420" y="4800479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и логика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456414" y="2777371"/>
            <a:ext cx="2007870" cy="2484120"/>
          </a:xfrm>
          <a:custGeom>
            <a:avLst/>
            <a:gdLst/>
            <a:ahLst/>
            <a:cxnLst/>
            <a:rect l="l" t="t" r="r" b="b"/>
            <a:pathLst>
              <a:path w="2007870" h="2484120">
                <a:moveTo>
                  <a:pt x="152397" y="0"/>
                </a:moveTo>
                <a:lnTo>
                  <a:pt x="1855473" y="0"/>
                </a:lnTo>
                <a:cubicBezTo>
                  <a:pt x="1939639" y="0"/>
                  <a:pt x="2007870" y="68231"/>
                  <a:pt x="2007870" y="152397"/>
                </a:cubicBezTo>
                <a:lnTo>
                  <a:pt x="2007870" y="2331723"/>
                </a:lnTo>
                <a:cubicBezTo>
                  <a:pt x="2007870" y="2415889"/>
                  <a:pt x="1939639" y="2484120"/>
                  <a:pt x="1855473" y="2484120"/>
                </a:cubicBezTo>
                <a:lnTo>
                  <a:pt x="152397" y="2484120"/>
                </a:lnTo>
                <a:cubicBezTo>
                  <a:pt x="68231" y="2484120"/>
                  <a:pt x="0" y="2415889"/>
                  <a:pt x="0" y="23317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78396" y="300977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9318903" y="32479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0" name="Text 27"/>
          <p:cNvSpPr/>
          <p:nvPr/>
        </p:nvSpPr>
        <p:spPr>
          <a:xfrm>
            <a:off x="8574524" y="3924179"/>
            <a:ext cx="1771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641199" y="4457579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650724" y="4800479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Интерфейс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219093" y="5650117"/>
            <a:ext cx="5751195" cy="693420"/>
          </a:xfrm>
          <a:custGeom>
            <a:avLst/>
            <a:gdLst/>
            <a:ahLst/>
            <a:cxnLst/>
            <a:rect l="l" t="t" r="r" b="b"/>
            <a:pathLst>
              <a:path w="5751195" h="693420">
                <a:moveTo>
                  <a:pt x="152400" y="0"/>
                </a:moveTo>
                <a:lnTo>
                  <a:pt x="5598795" y="0"/>
                </a:lnTo>
                <a:cubicBezTo>
                  <a:pt x="5682963" y="0"/>
                  <a:pt x="5751195" y="68232"/>
                  <a:pt x="5751195" y="152400"/>
                </a:cubicBezTo>
                <a:lnTo>
                  <a:pt x="5751195" y="541020"/>
                </a:lnTo>
                <a:cubicBezTo>
                  <a:pt x="5751195" y="625188"/>
                  <a:pt x="5682963" y="693420"/>
                  <a:pt x="5598795" y="693420"/>
                </a:cubicBezTo>
                <a:lnTo>
                  <a:pt x="152400" y="693420"/>
                </a:lnTo>
                <a:cubicBezTo>
                  <a:pt x="68288" y="693420"/>
                  <a:pt x="0" y="625132"/>
                  <a:pt x="0" y="5410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F43F5E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42003" y="58538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5" name="Text 32"/>
          <p:cNvSpPr/>
          <p:nvPr/>
        </p:nvSpPr>
        <p:spPr>
          <a:xfrm>
            <a:off x="4056340" y="5844425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Готовы создать будущее анализа ЭКГ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268891" y="58538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F43F5E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666</Words>
  <Application>Microsoft Office PowerPoint</Application>
  <PresentationFormat>Широкоэкранный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Liter</vt:lpstr>
      <vt:lpstr>MiSans</vt:lpstr>
      <vt:lpstr>Arial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SmartECG: MVP сервис анализа кардиограммы с использованием ИИ</dc:title>
  <dc:subject>SmartECG: MVP сервис анализа кардиограммы с использованием ИИ</dc:subject>
  <dc:creator>Kimi</dc:creator>
  <cp:lastModifiedBy>Ильяс Зиганшин</cp:lastModifiedBy>
  <cp:revision>6</cp:revision>
  <dcterms:created xsi:type="dcterms:W3CDTF">2026-04-05T15:50:29Z</dcterms:created>
  <dcterms:modified xsi:type="dcterms:W3CDTF">2026-04-05T16:11:31Z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{"Label":"SmartECG: MVP сервис анализа кардиограммы с использованием ИИ","ContentProducer":"001191110108MACG2KBH8F10000","ProduceID":"19d5e528-2fa2-8cfc-8000-0000c8dbb844","ReservedCode1":"","ContentPropagator":"001191110108MACG2KBH8F20000","PropagateID":"19d5e528-2fa2-8cfc-8000-0000c8dbb844","ReservedCode2":""}</vt:lpwstr>
  </property>
</Properties>
</file>